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00010"/>
                </a:solidFill>
                <a:latin typeface="Arial"/>
              </a:rPr>
              <a:t>STORE ALL BARBADOS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Arial"/>
              </a:rPr>
              <a:t>Management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Arial"/>
              </a:rPr>
              <a:t>Portfolio performance — Central · South · Lears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77639"/>
            <a:ext cx="2926080" cy="50292"/>
          </a:xfrm>
          <a:prstGeom prst="rect">
            <a:avLst/>
          </a:prstGeom>
          <a:solidFill>
            <a:srgbClr val="E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B6B"/>
                </a:solidFill>
                <a:latin typeface="Arial"/>
              </a:rPr>
              <a:t>July 2026  ·  June month-end data  ·  arrears &amp; occupancy as of 2 July  ·  SiteLink exports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9204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5001768"/>
            <a:ext cx="23134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PORTFOLIO OCCUPANCY (RENTABLE)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5202936"/>
            <a:ext cx="23134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99.4%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5632704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Arial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79" y="489204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8183" y="5001768"/>
            <a:ext cx="23134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MONTHLY RENT ROLL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3" y="5202936"/>
            <a:ext cx="23134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$274k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3" y="5632704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Arial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89204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5001768"/>
            <a:ext cx="23134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UNITS OVERDUE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5202936"/>
            <a:ext cx="23134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5632704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Arial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489204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6024" y="5001768"/>
            <a:ext cx="23134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PAYING DIGITALLY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5202936"/>
            <a:ext cx="23134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76%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5632704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384048" cy="914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OCCUPANCY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We are at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8988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B6B"/>
                </a:solidFill>
                <a:latin typeface="Arial"/>
              </a:rPr>
              <a:t>Physical occupancy by site — June month-end; Lears position as of 2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6"/>
                </a:solidFill>
                <a:latin typeface="Arial"/>
              </a:rPr>
              <a:t>Store All Barbados — Management Meeting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Arial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7889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7510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Arial"/>
              </a:rPr>
              <a:t>99.1%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529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457 of 461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9067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4 vacant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828800"/>
            <a:ext cx="27889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97510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SOUTH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21284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Arial"/>
              </a:rPr>
              <a:t>99.6%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8529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264 of 265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09067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1 vacant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828800"/>
            <a:ext cx="27889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97510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LEARS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21284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Arial"/>
              </a:rPr>
              <a:t>99.6%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8529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255 of 256 rentable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09067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1 vacant · 14 unrentable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1828800"/>
            <a:ext cx="2743200" cy="16002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97510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6A3A3"/>
                </a:solidFill>
                <a:latin typeface="Arial"/>
              </a:rPr>
              <a:t>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212848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99.4%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8529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976 of 982 rentable units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09067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9CFD6"/>
                </a:solidFill>
                <a:latin typeface="Arial"/>
              </a:rPr>
              <a:t>only 6 rentable units vacant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703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JUNE MOVEMENT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037076"/>
            <a:ext cx="1527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Move-ins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03120" y="4069080"/>
            <a:ext cx="2759202" cy="201168"/>
          </a:xfrm>
          <a:prstGeom prst="roundRect">
            <a:avLst>
              <a:gd name="adj" fmla="val 50000"/>
            </a:avLst>
          </a:prstGeom>
          <a:solidFill>
            <a:srgbClr val="1F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5474" y="40370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34</a:t>
            </a: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357116"/>
            <a:ext cx="1527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Move-outs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03120" y="4389120"/>
            <a:ext cx="1054989" cy="201168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31261" y="435711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13</a:t>
            </a: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677155"/>
            <a:ext cx="1527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Net absorption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03120" y="4709159"/>
            <a:ext cx="1704213" cy="201168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80485" y="4677155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21</a:t>
            </a:r>
            <a:r>
              <a:rPr sz="1000" b="0">
                <a:solidFill>
                  <a:srgbClr val="6B6B6B"/>
                </a:solidFill>
                <a:latin typeface="Arial"/>
              </a:rPr>
              <a:t>  +21 units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365760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3803904"/>
            <a:ext cx="49469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What "full" means for this meeting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6248" y="4114800"/>
            <a:ext cx="4946903" cy="1764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Arial"/>
              </a:rPr>
              <a:t>Growth can no longer come from filling vacant space</a:t>
            </a:r>
            <a:r>
              <a:rPr sz="1150" b="0">
                <a:solidFill>
                  <a:srgbClr val="FFFFFF"/>
                </a:solidFill>
                <a:latin typeface="Arial"/>
              </a:rPr>
              <a:t> — there are only 6 rentable vacants across three sites.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Arial"/>
              </a:rPr>
              <a:t>The levers now: </a:t>
            </a:r>
            <a:r>
              <a:rPr sz="1150" b="0">
                <a:solidFill>
                  <a:srgbClr val="FFFFFF"/>
                </a:solidFill>
                <a:latin typeface="Arial"/>
              </a:rPr>
              <a:t>rate management, recovering the 14 out-of-service Lears units (~$4.8k/mo ≈ $57k/yr at avg rent), and new capacity.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>
                <a:solidFill>
                  <a:srgbClr val="FFFFFF"/>
                </a:solidFill>
                <a:latin typeface="Arial"/>
              </a:rPr>
              <a:t>Lears absorbed +15 net in June and is effectively full on rentable stock.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384048" cy="914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PAYMENTS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Collections: overdue down from 53 to 45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8988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B6B"/>
                </a:solidFill>
                <a:latin typeface="Arial"/>
              </a:rPr>
              <a:t>Where the 976 occupied units stand — June activity · arrears re-checked against 2 July rent rolls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6"/>
                </a:solidFill>
                <a:latin typeface="Arial"/>
              </a:rPr>
              <a:t>Store All Barbados — Management Meeting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8809738" cy="384048"/>
          </a:xfrm>
          <a:prstGeom prst="rect">
            <a:avLst/>
          </a:prstGeom>
          <a:solidFill>
            <a:srgbClr val="1F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40090" y="1874519"/>
            <a:ext cx="1039914" cy="384048"/>
          </a:xfrm>
          <a:prstGeom prst="rect">
            <a:avLst/>
          </a:prstGeom>
          <a:solidFill>
            <a:srgbClr val="8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07436" y="1874519"/>
            <a:ext cx="752993" cy="384048"/>
          </a:xfrm>
          <a:prstGeom prst="rect">
            <a:avLst/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87862" y="1874519"/>
            <a:ext cx="489025" cy="384048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450592"/>
            <a:ext cx="128016" cy="128016"/>
          </a:xfrm>
          <a:prstGeom prst="rect">
            <a:avLst/>
          </a:prstGeom>
          <a:solidFill>
            <a:srgbClr val="1F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0487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Paid &amp; current</a:t>
            </a:r>
            <a:r>
              <a:rPr sz="1100" b="1">
                <a:solidFill>
                  <a:srgbClr val="1A1A1A"/>
                </a:solidFill>
                <a:latin typeface="Arial"/>
              </a:rPr>
              <a:t>  770</a:t>
            </a:r>
            <a:r>
              <a:rPr sz="1000" b="0">
                <a:solidFill>
                  <a:srgbClr val="6B6B6B"/>
                </a:solidFill>
                <a:latin typeface="Arial"/>
              </a:rPr>
              <a:t>  ·  78.9%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450592"/>
            <a:ext cx="128016" cy="128016"/>
          </a:xfrm>
          <a:prstGeom prst="rect">
            <a:avLst/>
          </a:prstGeom>
          <a:solidFill>
            <a:srgbClr val="8F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40487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Prepaid / ahead</a:t>
            </a:r>
            <a:r>
              <a:rPr sz="1100" b="1">
                <a:solidFill>
                  <a:srgbClr val="1A1A1A"/>
                </a:solidFill>
                <a:latin typeface="Arial"/>
              </a:rPr>
              <a:t>  93</a:t>
            </a:r>
            <a:r>
              <a:rPr sz="1000" b="0">
                <a:solidFill>
                  <a:srgbClr val="6B6B6B"/>
                </a:solidFill>
                <a:latin typeface="Arial"/>
              </a:rPr>
              <a:t>  ·  9.5%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450592"/>
            <a:ext cx="128016" cy="128016"/>
          </a:xfrm>
          <a:prstGeom prst="rect">
            <a:avLst/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40487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Off-cycle / not yet due</a:t>
            </a:r>
            <a:r>
              <a:rPr sz="1100" b="1">
                <a:solidFill>
                  <a:srgbClr val="1A1A1A"/>
                </a:solidFill>
                <a:latin typeface="Arial"/>
              </a:rPr>
              <a:t>  68</a:t>
            </a:r>
            <a:r>
              <a:rPr sz="1000" b="0">
                <a:solidFill>
                  <a:srgbClr val="6B6B6B"/>
                </a:solidFill>
                <a:latin typeface="Arial"/>
              </a:rPr>
              <a:t>  ·  7.0%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2450592"/>
            <a:ext cx="128016" cy="12801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240487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Behind (overdue)</a:t>
            </a:r>
            <a:r>
              <a:rPr sz="1100" b="1">
                <a:solidFill>
                  <a:srgbClr val="1A1A1A"/>
                </a:solidFill>
                <a:latin typeface="Arial"/>
              </a:rPr>
              <a:t>  45</a:t>
            </a:r>
            <a:r>
              <a:rPr sz="1000" b="0">
                <a:solidFill>
                  <a:srgbClr val="6B6B6B"/>
                </a:solidFill>
                <a:latin typeface="Arial"/>
              </a:rPr>
              <a:t>  ·  4.6%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54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OVERDUE BY SITE (JUNE OR EARLIER, AS OF 2 JUL)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Central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3547872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35204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rial"/>
              </a:rPr>
              <a:t>19 units</a:t>
            </a:r>
            <a:r>
              <a:rPr sz="1150" b="0">
                <a:solidFill>
                  <a:srgbClr val="6B6B6B"/>
                </a:solidFill>
                <a:latin typeface="Arial"/>
              </a:rPr>
              <a:t>   $12,866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9227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South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74519" y="3950208"/>
            <a:ext cx="3031957" cy="201168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97917" y="39227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rial"/>
              </a:rPr>
              <a:t>15 units</a:t>
            </a:r>
            <a:r>
              <a:rPr sz="1150" b="0">
                <a:solidFill>
                  <a:srgbClr val="6B6B6B"/>
                </a:solidFill>
                <a:latin typeface="Arial"/>
              </a:rPr>
              <a:t>   $9,552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32511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Lears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74519" y="4352544"/>
            <a:ext cx="2223435" cy="201168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89395" y="43251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rial"/>
              </a:rPr>
              <a:t>11 units</a:t>
            </a:r>
            <a:r>
              <a:rPr sz="1150" b="0">
                <a:solidFill>
                  <a:srgbClr val="6B6B6B"/>
                </a:solidFill>
                <a:latin typeface="Arial"/>
              </a:rPr>
              <a:t>   $9,078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818888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A1A1A"/>
                </a:solidFill>
                <a:latin typeface="Arial"/>
              </a:rPr>
              <a:t>Aging: </a:t>
            </a:r>
            <a:r>
              <a:rPr sz="1150" b="0">
                <a:solidFill>
                  <a:srgbClr val="1A1A1A"/>
                </a:solidFill>
                <a:latin typeface="Arial"/>
              </a:rPr>
              <a:t>19 at 1 month · 16 at 2 months · </a:t>
            </a:r>
            <a:r>
              <a:rPr sz="1150" b="1">
                <a:solidFill>
                  <a:srgbClr val="B00010"/>
                </a:solidFill>
                <a:latin typeface="Arial"/>
              </a:rPr>
              <a:t>10 units 60+ days late</a:t>
            </a:r>
            <a:r>
              <a:rPr sz="1150" b="0">
                <a:solidFill>
                  <a:srgbClr val="1A1A1A"/>
                </a:solidFill>
                <a:latin typeface="Arial"/>
              </a:rPr>
              <a:t> — the collections priority (worst: 182 days).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154680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3300984"/>
            <a:ext cx="49469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10"/>
                </a:solidFill>
                <a:latin typeface="Arial"/>
              </a:rPr>
              <a:t>Read-out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3611880"/>
            <a:ext cx="4946903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1">
                <a:solidFill>
                  <a:srgbClr val="1A1A1A"/>
                </a:solidFill>
                <a:latin typeface="Arial"/>
              </a:rPr>
              <a:t>8 units cleared their June balance</a:t>
            </a:r>
            <a:r>
              <a:rPr sz="1150" b="0">
                <a:solidFill>
                  <a:srgbClr val="1A1A1A"/>
                </a:solidFill>
                <a:latin typeface="Arial"/>
              </a:rPr>
              <a:t> between the month-end count (53) and 2 July (45).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>
                <a:solidFill>
                  <a:srgbClr val="1A1A1A"/>
                </a:solidFill>
                <a:latin typeface="Arial"/>
              </a:rPr>
              <a:t>Total past-due rent stands at </a:t>
            </a:r>
            <a:r>
              <a:rPr sz="1150" b="1">
                <a:solidFill>
                  <a:srgbClr val="1A1A1A"/>
                </a:solidFill>
                <a:latin typeface="Arial"/>
              </a:rPr>
              <a:t>$31,496</a:t>
            </a:r>
            <a:r>
              <a:rPr sz="1150" b="0">
                <a:solidFill>
                  <a:srgbClr val="1A1A1A"/>
                </a:solidFill>
                <a:latin typeface="Arial"/>
              </a:rPr>
              <a:t> — 4.6% of occupied units, under 1% of annualised rent roll.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>
                <a:solidFill>
                  <a:srgbClr val="1A1A1A"/>
                </a:solidFill>
                <a:latin typeface="Arial"/>
              </a:rPr>
              <a:t>26 of the 45 made no payment at all in June — prioritise these for contact this week.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384048" cy="914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PAYMENTS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How tenants pay — corrected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8988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B6B"/>
                </a:solidFill>
                <a:latin typeface="Arial"/>
              </a:rPr>
              <a:t>June receipts, all sites · Money Order was CIBC app transfers; Internet was Republic; Bank Transfer was our website Pay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6"/>
                </a:solidFill>
                <a:latin typeface="Arial"/>
              </a:rPr>
              <a:t>Store All Barbados — Management Meeting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UNITS BY PAYMENT METHOD (JUNE PAYERS)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16836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Autopay — Plug &amp; Pay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148840"/>
            <a:ext cx="2651760" cy="182880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9552" y="211683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274</a:t>
            </a:r>
            <a:r>
              <a:rPr sz="950" b="0">
                <a:solidFill>
                  <a:srgbClr val="6B6B6B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41448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CIBC (bank transfer)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2473452"/>
            <a:ext cx="2206574" cy="182880"/>
          </a:xfrm>
          <a:prstGeom prst="roundRect">
            <a:avLst>
              <a:gd name="adj" fmla="val 50000"/>
            </a:avLst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4366" y="2441448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228</a:t>
            </a:r>
            <a:r>
              <a:rPr sz="950" b="0">
                <a:solidFill>
                  <a:srgbClr val="6B6B6B"/>
                </a:solidFill>
                <a:latin typeface="Arial"/>
              </a:rPr>
              <a:t>  ex “Money Order”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66060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Website Pay Now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39" y="2798064"/>
            <a:ext cx="1064575" cy="182880"/>
          </a:xfrm>
          <a:prstGeom prst="roundRect">
            <a:avLst>
              <a:gd name="adj" fmla="val 50000"/>
            </a:avLst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2367" y="27660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110</a:t>
            </a:r>
            <a:r>
              <a:rPr sz="950" b="0">
                <a:solidFill>
                  <a:srgbClr val="6B6B6B"/>
                </a:solidFill>
                <a:latin typeface="Arial"/>
              </a:rPr>
              <a:t>  ex “Bank Transfer”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90672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Cash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39" y="3122676"/>
            <a:ext cx="687134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4926" y="309067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71</a:t>
            </a:r>
            <a:r>
              <a:rPr sz="950" b="0">
                <a:solidFill>
                  <a:srgbClr val="6B6B6B"/>
                </a:solidFill>
                <a:latin typeface="Arial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415284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Visa / Mastercard (manual)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39" y="3447288"/>
            <a:ext cx="793592" cy="182880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1384" y="341528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82</a:t>
            </a:r>
            <a:r>
              <a:rPr sz="950" b="0">
                <a:solidFill>
                  <a:srgbClr val="6B6B6B"/>
                </a:solidFill>
                <a:latin typeface="Arial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39896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Cheque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39" y="3771900"/>
            <a:ext cx="406474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4266" y="373989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42</a:t>
            </a:r>
            <a:r>
              <a:rPr sz="950" b="0">
                <a:solidFill>
                  <a:srgbClr val="6B6B6B"/>
                </a:solidFill>
                <a:latin typeface="Arial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064508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Republic (bank transfer)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39" y="4096512"/>
            <a:ext cx="48389" cy="182880"/>
          </a:xfrm>
          <a:prstGeom prst="roundRect">
            <a:avLst>
              <a:gd name="adj" fmla="val 50000"/>
            </a:avLst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56181" y="4064508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5</a:t>
            </a:r>
            <a:r>
              <a:rPr sz="950" b="0">
                <a:solidFill>
                  <a:srgbClr val="6B6B6B"/>
                </a:solidFill>
                <a:latin typeface="Arial"/>
              </a:rPr>
              <a:t>  ex “Internet”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1783080"/>
            <a:ext cx="256032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37960" y="1783080"/>
            <a:ext cx="64008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1874519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AUTOPAY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05740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34%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4963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274 units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1783080"/>
            <a:ext cx="256032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35440" y="1783080"/>
            <a:ext cx="64008" cy="100584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1874519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DIGITAL TRANSFERS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05740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42%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24963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343 units — CIBC · Pay Now · Republic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7960" y="2926080"/>
            <a:ext cx="256032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37960" y="2926080"/>
            <a:ext cx="64008" cy="10058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301752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MANUAL CARD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320040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10%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36393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82 units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35440" y="2926080"/>
            <a:ext cx="256032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35440" y="2926080"/>
            <a:ext cx="64008" cy="10058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20" y="301752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CASH / CHEQUE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320040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14%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36393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113 units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37960" y="4160520"/>
            <a:ext cx="5166360" cy="20574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39128" y="4306824"/>
            <a:ext cx="4764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The story changed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39128" y="4617720"/>
            <a:ext cx="4764024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Arial"/>
              </a:rPr>
              <a:t>76% of paying tenants already pay digitally.</a:t>
            </a:r>
            <a:r>
              <a:rPr sz="1150" b="0">
                <a:solidFill>
                  <a:srgbClr val="FFFFFF"/>
                </a:solidFill>
                <a:latin typeface="Arial"/>
              </a:rPr>
              <a:t> “Cash-equivalent” was overstated — most of it was CIBC app transfers.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Arial"/>
              </a:rPr>
              <a:t>343 digital payers are one nudge from autopay</a:t>
            </a:r>
            <a:r>
              <a:rPr sz="1150" b="0">
                <a:solidFill>
                  <a:srgbClr val="FFFFFF"/>
                </a:solidFill>
                <a:latin typeface="Arial"/>
              </a:rPr>
              <a:t> — they already pay electronically every month; ask for the standing instruction.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>
                <a:solidFill>
                  <a:srgbClr val="FFFFFF"/>
                </a:solidFill>
                <a:latin typeface="Arial"/>
              </a:rPr>
              <a:t>True cash/cheque is only 113 units (14%).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384048" cy="914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ACQUISITION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How customers actually found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8988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B6B"/>
                </a:solidFill>
                <a:latin typeface="Arial"/>
              </a:rPr>
              <a:t>SiteLink marketing category (sMktCat) — current occupied base, 974 tenants · new data this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6"/>
                </a:solidFill>
                <a:latin typeface="Arial"/>
              </a:rPr>
              <a:t>Store All Barbados — Management Meeting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MARKETING SOURCE —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16836"/>
            <a:ext cx="1709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Internet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148840"/>
            <a:ext cx="3566160" cy="182880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25312" y="2116836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326</a:t>
            </a:r>
            <a:r>
              <a:rPr sz="950" b="0">
                <a:solidFill>
                  <a:srgbClr val="6B6B6B"/>
                </a:solidFill>
                <a:latin typeface="Arial"/>
              </a:rPr>
              <a:t>  33.5%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1709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Referral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455164"/>
            <a:ext cx="2373793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2945" y="242316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217</a:t>
            </a:r>
            <a:r>
              <a:rPr sz="950" b="0">
                <a:solidFill>
                  <a:srgbClr val="6B6B6B"/>
                </a:solidFill>
                <a:latin typeface="Arial"/>
              </a:rPr>
              <a:t>  22.3%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29484"/>
            <a:ext cx="1709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Previous tenant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2761488"/>
            <a:ext cx="1750262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9414" y="2729484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160</a:t>
            </a:r>
            <a:r>
              <a:rPr sz="950" b="0">
                <a:solidFill>
                  <a:srgbClr val="6B6B6B"/>
                </a:solidFill>
                <a:latin typeface="Arial"/>
              </a:rPr>
              <a:t>  16.4%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35808"/>
            <a:ext cx="1709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Other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067812"/>
            <a:ext cx="1126731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5883" y="3035808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103</a:t>
            </a:r>
            <a:r>
              <a:rPr sz="950" b="0">
                <a:solidFill>
                  <a:srgbClr val="6B6B6B"/>
                </a:solidFill>
                <a:latin typeface="Arial"/>
              </a:rPr>
              <a:t>  10.6%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342132"/>
            <a:ext cx="1709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Drive-by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3374136"/>
            <a:ext cx="918887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8039" y="334213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84</a:t>
            </a:r>
            <a:r>
              <a:rPr sz="950" b="0">
                <a:solidFill>
                  <a:srgbClr val="6B6B6B"/>
                </a:solidFill>
                <a:latin typeface="Arial"/>
              </a:rPr>
              <a:t>  8.6%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648456"/>
            <a:ext cx="1709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Yellow Pages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3680460"/>
            <a:ext cx="656348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5500" y="3648456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60</a:t>
            </a:r>
            <a:r>
              <a:rPr sz="950" b="0">
                <a:solidFill>
                  <a:srgbClr val="6B6B6B"/>
                </a:solidFill>
                <a:latin typeface="Arial"/>
              </a:rPr>
              <a:t>  6.2%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954780"/>
            <a:ext cx="1709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Unknown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3986784"/>
            <a:ext cx="196904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56056" y="395478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18</a:t>
            </a:r>
            <a:r>
              <a:rPr sz="950" b="0">
                <a:solidFill>
                  <a:srgbClr val="6B6B6B"/>
                </a:solidFill>
                <a:latin typeface="Arial"/>
              </a:rPr>
              <a:t>  1.8%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261104"/>
            <a:ext cx="1709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Facebook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4293108"/>
            <a:ext cx="65634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4786" y="4261104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6</a:t>
            </a:r>
            <a:r>
              <a:rPr sz="950" b="0">
                <a:solidFill>
                  <a:srgbClr val="6B6B6B"/>
                </a:solidFill>
                <a:latin typeface="Arial"/>
              </a:rPr>
              <a:t>  0.6%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1783080"/>
            <a:ext cx="23774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67144" y="1892807"/>
            <a:ext cx="2084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FOUND US ONLINE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7144" y="2093976"/>
            <a:ext cx="20848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B00010"/>
                </a:solidFill>
                <a:latin typeface="Arial"/>
              </a:rPr>
              <a:t>34%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67144" y="2523744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Arial"/>
              </a:rPr>
              <a:t>Internet + Facebook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81160" y="1783080"/>
            <a:ext cx="23774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27464" y="1892807"/>
            <a:ext cx="2084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WORD OF MOUTH + REPEAT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27464" y="2093976"/>
            <a:ext cx="20848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39%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27464" y="2523744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Arial"/>
              </a:rPr>
              <a:t>Referral + previous tenant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3063240"/>
            <a:ext cx="4937760" cy="306324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22007" y="3209544"/>
            <a:ext cx="4535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10"/>
                </a:solidFill>
                <a:latin typeface="Arial"/>
              </a:rPr>
              <a:t>Important correction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22007" y="3520440"/>
            <a:ext cx="4535424" cy="2496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>
                <a:solidFill>
                  <a:srgbClr val="1A1A1A"/>
                </a:solidFill>
                <a:latin typeface="Arial"/>
              </a:rPr>
              <a:t>What we previously called “acquisition” was the </a:t>
            </a:r>
            <a:r>
              <a:rPr sz="1150" b="1">
                <a:solidFill>
                  <a:srgbClr val="1A1A1A"/>
                </a:solidFill>
                <a:latin typeface="Arial"/>
              </a:rPr>
              <a:t>contact channel</a:t>
            </a:r>
            <a:r>
              <a:rPr sz="1150" b="0">
                <a:solidFill>
                  <a:srgbClr val="1A1A1A"/>
                </a:solidFill>
                <a:latin typeface="Arial"/>
              </a:rPr>
              <a:t> (phone / walk-in) — not the source.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1">
                <a:solidFill>
                  <a:srgbClr val="1A1A1A"/>
                </a:solidFill>
                <a:latin typeface="Arial"/>
              </a:rPr>
              <a:t>The real picture: </a:t>
            </a:r>
            <a:r>
              <a:rPr sz="1150" b="0">
                <a:solidFill>
                  <a:srgbClr val="1A1A1A"/>
                </a:solidFill>
                <a:latin typeface="Arial"/>
              </a:rPr>
              <a:t>1 in 3 tenants discovered us on the internet; nearly 4 in 10 came from referrals or are returning customers.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>
                <a:solidFill>
                  <a:srgbClr val="1A1A1A"/>
                </a:solidFill>
                <a:latin typeface="Arial"/>
              </a:rPr>
              <a:t>Referred &amp; repeat customers are also the highest-value: referral tenants at Central alone represent $2.3M lifetime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384048" cy="914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ACQUISITION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How they contacted us — and the booking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8988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B6B"/>
                </a:solidFill>
                <a:latin typeface="Arial"/>
              </a:rPr>
              <a:t>Enquiry channel (SiteLink InquirySource), occupied base of 979 · distinct from the marketing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6"/>
                </a:solidFill>
                <a:latin typeface="Arial"/>
              </a:rPr>
              <a:t>Store All Barbados — Management Meeting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CONTACT CHANNEL —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16836"/>
            <a:ext cx="1709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Phone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148840"/>
            <a:ext cx="3566160" cy="20116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25312" y="2116836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602</a:t>
            </a:r>
            <a:r>
              <a:rPr sz="1000" b="0">
                <a:solidFill>
                  <a:srgbClr val="6B6B6B"/>
                </a:solidFill>
                <a:latin typeface="Arial"/>
              </a:rPr>
              <a:t>  61.5%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73452"/>
            <a:ext cx="1709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Not recorded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505456"/>
            <a:ext cx="977435" cy="201168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6587" y="247345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165</a:t>
            </a:r>
            <a:r>
              <a:rPr sz="1000" b="0">
                <a:solidFill>
                  <a:srgbClr val="6B6B6B"/>
                </a:solidFill>
                <a:latin typeface="Arial"/>
              </a:rPr>
              <a:t>  16.9%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30068"/>
            <a:ext cx="1709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Walk-in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2862072"/>
            <a:ext cx="876730" cy="201168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5882" y="2830068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148</a:t>
            </a:r>
            <a:r>
              <a:rPr sz="1000" b="0">
                <a:solidFill>
                  <a:srgbClr val="6B6B6B"/>
                </a:solidFill>
                <a:latin typeface="Arial"/>
              </a:rPr>
              <a:t>  15.1%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186684"/>
            <a:ext cx="1709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218688"/>
            <a:ext cx="278421" cy="201168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37573" y="3186684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47</a:t>
            </a:r>
            <a:r>
              <a:rPr sz="1000" b="0">
                <a:solidFill>
                  <a:srgbClr val="6B6B6B"/>
                </a:solidFill>
                <a:latin typeface="Arial"/>
              </a:rPr>
              <a:t>  4.8%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43300"/>
            <a:ext cx="1709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Web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3575304"/>
            <a:ext cx="100705" cy="201168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59857" y="35433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17</a:t>
            </a:r>
            <a:r>
              <a:rPr sz="1000" b="0">
                <a:solidFill>
                  <a:srgbClr val="6B6B6B"/>
                </a:solidFill>
                <a:latin typeface="Arial"/>
              </a:rPr>
              <a:t>  1.7%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976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10"/>
                </a:solidFill>
                <a:latin typeface="Arial"/>
              </a:rPr>
              <a:t>34% found us online → only 17 tenants ever booked via the web.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709160"/>
            <a:ext cx="5669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Arial"/>
              </a:rPr>
              <a:t>People discover Store All online, then pick up the phone. Discovery is not the problem — conversion to an online booking 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1783080"/>
            <a:ext cx="4937760" cy="43434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2007" y="1929384"/>
            <a:ext cx="4535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The whitespace is booking, not awareness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7" y="2240280"/>
            <a:ext cx="4535424" cy="3776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Arial"/>
              </a:rPr>
              <a:t>Demand is already digital:</a:t>
            </a:r>
            <a:r>
              <a:rPr sz="1150" b="0">
                <a:solidFill>
                  <a:srgbClr val="FFFFFF"/>
                </a:solidFill>
                <a:latin typeface="Arial"/>
              </a:rPr>
              <a:t> a third of tenants find us online, and the website’s Pay Now already moves $41k of rent a month.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Arial"/>
              </a:rPr>
              <a:t>But the web takes almost no bookings</a:t>
            </a:r>
            <a:r>
              <a:rPr sz="1150" b="0">
                <a:solidFill>
                  <a:srgbClr val="FFFFFF"/>
                </a:solidFill>
                <a:latin typeface="Arial"/>
              </a:rPr>
              <a:t> — 17 ever, 1 in the last 12 months. Every online discovery must convert by phone during office hours.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Arial"/>
              </a:rPr>
              <a:t>This is the customer-app / online-booking case in one slide:</a:t>
            </a:r>
            <a:r>
              <a:rPr sz="1150" b="0">
                <a:solidFill>
                  <a:srgbClr val="FFFFFF"/>
                </a:solidFill>
                <a:latin typeface="Arial"/>
              </a:rPr>
              <a:t> live availability + pricing, reserve &amp; move in online, 24/7.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1">
                <a:solidFill>
                  <a:srgbClr val="FFFFFF"/>
                </a:solidFill>
                <a:latin typeface="Arial"/>
              </a:rPr>
              <a:t>Housekeeping: 165 tenants (17%) have no recorded channel — make “how did you hear about us?” a required field.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384048" cy="914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LEAD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Inquiry → move-in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8988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B6B"/>
                </a:solidFill>
                <a:latin typeface="Arial"/>
              </a:rPr>
              <a:t>SiteLink inquiry tracking · leads placed Jan–Jun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6"/>
                </a:solidFill>
                <a:latin typeface="Arial"/>
              </a:rPr>
              <a:t>Store All Barbados — Management Meeting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Arial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892807"/>
            <a:ext cx="22219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INQUIRIES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093976"/>
            <a:ext cx="222199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361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523744"/>
            <a:ext cx="2221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Arial"/>
              </a:rPr>
              <a:t>Jan–Jun, all sites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78308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6704" y="1892807"/>
            <a:ext cx="22219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MOVE-INS WON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2093976"/>
            <a:ext cx="222199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2523744"/>
            <a:ext cx="2221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Arial"/>
              </a:rPr>
              <a:t>from those leads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78308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44184" y="1892807"/>
            <a:ext cx="22219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CONVERSION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4" y="2093976"/>
            <a:ext cx="222199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B00010"/>
                </a:solidFill>
                <a:latin typeface="Arial"/>
              </a:rPr>
              <a:t>38%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4184" y="2523744"/>
            <a:ext cx="2221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Arial"/>
              </a:rPr>
              <a:t>portfolio average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783080"/>
            <a:ext cx="30632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41664" y="1892807"/>
            <a:ext cx="27706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FOLLOW-UPS 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2093976"/>
            <a:ext cx="27706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B00010"/>
                </a:solidFill>
                <a:latin typeface="Arial"/>
              </a:rPr>
              <a:t>51 of 321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1664" y="2523744"/>
            <a:ext cx="2770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Arial"/>
              </a:rPr>
              <a:t>only 16% of scheduled follow-ups made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54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CONVERSION BY 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5204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Lears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37360" y="3538728"/>
            <a:ext cx="3291840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737360" y="3538728"/>
            <a:ext cx="1405704" cy="182880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35021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rial"/>
              </a:rPr>
              <a:t>79 of 185</a:t>
            </a:r>
            <a:r>
              <a:rPr sz="1150" b="1">
                <a:solidFill>
                  <a:srgbClr val="B00010"/>
                </a:solidFill>
                <a:latin typeface="Arial"/>
              </a:rPr>
              <a:t>   43%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9410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South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37360" y="3959352"/>
            <a:ext cx="1814960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737360" y="3959352"/>
            <a:ext cx="658368" cy="182880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43760" y="392277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rial"/>
              </a:rPr>
              <a:t>37 of 102</a:t>
            </a:r>
            <a:r>
              <a:rPr sz="1150" b="1">
                <a:solidFill>
                  <a:srgbClr val="B00010"/>
                </a:solidFill>
                <a:latin typeface="Arial"/>
              </a:rPr>
              <a:t>   36%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36168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Central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37360" y="4379976"/>
            <a:ext cx="1316736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737360" y="4379976"/>
            <a:ext cx="391462" cy="182880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45536" y="43434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rial"/>
              </a:rPr>
              <a:t>22 of 74</a:t>
            </a:r>
            <a:r>
              <a:rPr sz="1150" b="1">
                <a:solidFill>
                  <a:srgbClr val="B00010"/>
                </a:solidFill>
                <a:latin typeface="Arial"/>
              </a:rPr>
              <a:t>   30%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480060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6"/>
                </a:solidFill>
                <a:latin typeface="Arial"/>
              </a:rPr>
              <a:t>red = converted · gray = total inquiries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029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WHAT CONVERTS BEST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4924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1A1A1A"/>
                </a:solidFill>
                <a:latin typeface="Arial"/>
              </a:rPr>
              <a:t>By source: </a:t>
            </a:r>
            <a:r>
              <a:rPr sz="1150" b="0">
                <a:solidFill>
                  <a:srgbClr val="1A1A1A"/>
                </a:solidFill>
                <a:latin typeface="Arial"/>
              </a:rPr>
              <a:t>Referral 51% · Previous tenant 48% · Internet 35%.   </a:t>
            </a:r>
            <a:r>
              <a:rPr sz="1150" b="1">
                <a:solidFill>
                  <a:srgbClr val="1A1A1A"/>
                </a:solidFill>
                <a:latin typeface="Arial"/>
              </a:rPr>
              <a:t>By channel: </a:t>
            </a:r>
            <a:r>
              <a:rPr sz="1150" b="0">
                <a:solidFill>
                  <a:srgbClr val="1A1A1A"/>
                </a:solidFill>
                <a:latin typeface="Arial"/>
              </a:rPr>
              <a:t>Email 69% · Walk-in 38% · Phone 35%.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3154680"/>
            <a:ext cx="5349240" cy="30175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3300984"/>
            <a:ext cx="49469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10"/>
                </a:solidFill>
                <a:latin typeface="Arial"/>
              </a:rPr>
              <a:t>The follow-up gap is the cheapest win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56248" y="3611880"/>
            <a:ext cx="4946903" cy="2450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1">
                <a:solidFill>
                  <a:srgbClr val="1A1A1A"/>
                </a:solidFill>
                <a:latin typeface="Arial"/>
              </a:rPr>
              <a:t>84% of scheduled follow-ups were never made</a:t>
            </a:r>
            <a:r>
              <a:rPr sz="1150" b="0">
                <a:solidFill>
                  <a:srgbClr val="1A1A1A"/>
                </a:solidFill>
                <a:latin typeface="Arial"/>
              </a:rPr>
              <a:t> (270 of 321). The site that follows up most — Lears, 41 — also converts best (43%).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1">
                <a:solidFill>
                  <a:srgbClr val="1A1A1A"/>
                </a:solidFill>
                <a:latin typeface="Arial"/>
              </a:rPr>
              <a:t>Automate it:</a:t>
            </a:r>
            <a:r>
              <a:rPr sz="1150" b="0">
                <a:solidFill>
                  <a:srgbClr val="1A1A1A"/>
                </a:solidFill>
                <a:latin typeface="Arial"/>
              </a:rPr>
              <a:t> an SMS / email / WhatsApp sequence the moment an inquiry is logged.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>
                <a:solidFill>
                  <a:srgbClr val="1A1A1A"/>
                </a:solidFill>
                <a:latin typeface="Arial"/>
              </a:rPr>
              <a:t>Even +5pp conversion on 361 inquiries ≈ 18 extra move-ins per half-year.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384048" cy="914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CUSTOMER PROFILE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Who rents with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8988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B6B"/>
                </a:solidFill>
                <a:latin typeface="Arial"/>
              </a:rPr>
              <a:t>SiteLink marketing summary — 978 active tenants, all 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6"/>
                </a:solidFill>
                <a:latin typeface="Arial"/>
              </a:rPr>
              <a:t>Store All Barbados — Management Meeting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Arial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892807"/>
            <a:ext cx="23591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RESIDENTIAL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093976"/>
            <a:ext cx="23591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76%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523744"/>
            <a:ext cx="2359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Arial"/>
              </a:rPr>
              <a:t>747 tenants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78308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892807"/>
            <a:ext cx="23591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COMMERCIAL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2093976"/>
            <a:ext cx="23591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24%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523744"/>
            <a:ext cx="2359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Arial"/>
              </a:rPr>
              <a:t>231 tenants · ~29% of revenue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892807"/>
            <a:ext cx="23591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CHOSE US FOR 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093976"/>
            <a:ext cx="23591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B00010"/>
                </a:solidFill>
                <a:latin typeface="Arial"/>
              </a:rPr>
              <a:t>67%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523744"/>
            <a:ext cx="2359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Arial"/>
              </a:rPr>
              <a:t>657 of 978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78308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1892807"/>
            <a:ext cx="23591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6B6B"/>
                </a:solidFill>
                <a:latin typeface="Arial"/>
              </a:rPr>
              <a:t>OVERSEAS 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093976"/>
            <a:ext cx="23591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2523744"/>
            <a:ext cx="2359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Arial"/>
              </a:rPr>
              <a:t>13% of the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54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DISTANCE FROM FACILITY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488436"/>
            <a:ext cx="1344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&lt; 2 mi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3520440"/>
            <a:ext cx="289980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3372" y="3488436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28</a:t>
            </a:r>
            <a:r>
              <a:rPr sz="950" b="0">
                <a:solidFill>
                  <a:srgbClr val="6B6B6B"/>
                </a:solidFill>
                <a:latin typeface="Arial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803904"/>
            <a:ext cx="1344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2–3 mi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3835908"/>
            <a:ext cx="1729529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22921" y="3803904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167</a:t>
            </a:r>
            <a:r>
              <a:rPr sz="950" b="0">
                <a:solidFill>
                  <a:srgbClr val="6B6B6B"/>
                </a:solidFill>
                <a:latin typeface="Arial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119372"/>
            <a:ext cx="1344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3–5 mi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0240" y="4151376"/>
            <a:ext cx="2288778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82170" y="411937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221</a:t>
            </a:r>
            <a:r>
              <a:rPr sz="950" b="0">
                <a:solidFill>
                  <a:srgbClr val="6B6B6B"/>
                </a:solidFill>
                <a:latin typeface="Arial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434840"/>
            <a:ext cx="1344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5–10 mi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20240" y="4466844"/>
            <a:ext cx="3749040" cy="182880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42432" y="443484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362</a:t>
            </a:r>
            <a:r>
              <a:rPr sz="950" b="0">
                <a:solidFill>
                  <a:srgbClr val="6B6B6B"/>
                </a:solidFill>
                <a:latin typeface="Arial"/>
              </a:rPr>
              <a:t>  largest band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750307"/>
            <a:ext cx="1344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&gt; 10 mi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20240" y="4782312"/>
            <a:ext cx="611031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04423" y="4750307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59</a:t>
            </a:r>
            <a:r>
              <a:rPr sz="950" b="0">
                <a:solidFill>
                  <a:srgbClr val="6B6B6B"/>
                </a:solidFill>
                <a:latin typeface="Arial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065775"/>
            <a:ext cx="1344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Overseas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20240" y="5097779"/>
            <a:ext cx="1273845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7237" y="5065775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123</a:t>
            </a:r>
            <a:r>
              <a:rPr sz="950" b="0">
                <a:solidFill>
                  <a:srgbClr val="6B6B6B"/>
                </a:solidFill>
                <a:latin typeface="Arial"/>
              </a:rPr>
              <a:t/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7960" y="3154680"/>
            <a:ext cx="5166360" cy="30175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39128" y="3300984"/>
            <a:ext cx="4764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10"/>
                </a:solidFill>
                <a:latin typeface="Arial"/>
              </a:rPr>
              <a:t>Catchment &amp; siting signal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39128" y="3611880"/>
            <a:ext cx="4764024" cy="2450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1">
                <a:solidFill>
                  <a:srgbClr val="1A1A1A"/>
                </a:solidFill>
                <a:latin typeface="Arial"/>
              </a:rPr>
              <a:t>Location beats price:</a:t>
            </a:r>
            <a:r>
              <a:rPr sz="1150" b="0">
                <a:solidFill>
                  <a:srgbClr val="1A1A1A"/>
                </a:solidFill>
                <a:latin typeface="Arial"/>
              </a:rPr>
              <a:t> 67% chose us for location; only 2 tenants cited price. Rate headroom exists.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1">
                <a:solidFill>
                  <a:srgbClr val="1A1A1A"/>
                </a:solidFill>
                <a:latin typeface="Arial"/>
              </a:rPr>
              <a:t>The 5–10 mile band is the core catchment</a:t>
            </a:r>
            <a:r>
              <a:rPr sz="1150" b="0">
                <a:solidFill>
                  <a:srgbClr val="1A1A1A"/>
                </a:solidFill>
                <a:latin typeface="Arial"/>
              </a:rPr>
              <a:t> (37%) — the key input for any future site decision.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>
                <a:solidFill>
                  <a:srgbClr val="1A1A1A"/>
                </a:solidFill>
                <a:latin typeface="Arial"/>
              </a:rPr>
              <a:t>123 overseas tenants (13%) manage remotely — they can’t walk in or phone easily; the strongest audience for self-service.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384048" cy="914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CUSTOMER PROFILE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Why they store — and how the sites differ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8988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6B6B"/>
                </a:solidFill>
                <a:latin typeface="Arial"/>
              </a:rPr>
              <a:t>Storage reason &amp; contents (portfolio) · tenure and age by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6"/>
                </a:solidFill>
                <a:latin typeface="Arial"/>
              </a:rPr>
              <a:t>Store All Barbados — Management Meeting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WHY THEY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98548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Excess / declutter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2130552"/>
            <a:ext cx="3337560" cy="182880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2098548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338</a:t>
            </a:r>
            <a:r>
              <a:rPr sz="950" b="0">
                <a:solidFill>
                  <a:srgbClr val="6B6B6B"/>
                </a:solidFill>
                <a:latin typeface="Arial"/>
              </a:rPr>
              <a:t>  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09444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Moving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2441448"/>
            <a:ext cx="2458735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3607" y="2409444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249</a:t>
            </a:r>
            <a:r>
              <a:rPr sz="950" b="0">
                <a:solidFill>
                  <a:srgbClr val="6B6B6B"/>
                </a:solidFill>
                <a:latin typeface="Arial"/>
              </a:rPr>
              <a:t> 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20339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Business needs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2752344"/>
            <a:ext cx="2280995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5867" y="2720339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231</a:t>
            </a:r>
            <a:r>
              <a:rPr sz="950" b="0">
                <a:solidFill>
                  <a:srgbClr val="6B6B6B"/>
                </a:solidFill>
                <a:latin typeface="Arial"/>
              </a:rPr>
              <a:t>  24%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31235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Renovating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3063239"/>
            <a:ext cx="523345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8217" y="3031235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53</a:t>
            </a:r>
            <a:r>
              <a:rPr sz="950" b="0">
                <a:solidFill>
                  <a:srgbClr val="6B6B6B"/>
                </a:solidFill>
                <a:latin typeface="Arial"/>
              </a:rPr>
              <a:t>  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342131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Arial"/>
              </a:rPr>
              <a:t>Other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3374135"/>
            <a:ext cx="868950" cy="182880"/>
          </a:xfrm>
          <a:prstGeom prst="roundRect">
            <a:avLst>
              <a:gd name="adj" fmla="val 50000"/>
            </a:avLst>
          </a:prstGeom>
          <a:solidFill>
            <a:srgbClr val="C7C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3822" y="3342131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rial"/>
              </a:rPr>
              <a:t>88</a:t>
            </a:r>
            <a:r>
              <a:rPr sz="950" b="0">
                <a:solidFill>
                  <a:srgbClr val="6B6B6B"/>
                </a:solidFill>
                <a:latin typeface="Arial"/>
              </a:rPr>
              <a:t>  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88620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Arial"/>
              </a:rPr>
              <a:t>What they store: </a:t>
            </a:r>
            <a:r>
              <a:rPr sz="1150" b="0">
                <a:solidFill>
                  <a:srgbClr val="1A1A1A"/>
                </a:solidFill>
                <a:latin typeface="Arial"/>
              </a:rPr>
              <a:t>furniture &amp; household boxes 64% · business inventory 16% · business records 8%.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17830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THREE SITES, THREE CUSTOMERS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2148840"/>
            <a:ext cx="51206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22402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Central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2402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median age 51 · tenure 3.3 yr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5146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the long-stay anchor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008376"/>
            <a:ext cx="51206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09981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South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09981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median age 55 · tenure 2.1 yr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37413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older, settled, local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3867912"/>
            <a:ext cx="51206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39593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Lears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9593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median age 23 · tenure 1.2 yr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23367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young &amp; fast-moving — churn watch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480060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39128" y="4946904"/>
            <a:ext cx="47183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0010"/>
                </a:solidFill>
                <a:latin typeface="Arial"/>
              </a:rPr>
              <a:t>So what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39128" y="5257800"/>
            <a:ext cx="4718303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1">
                <a:solidFill>
                  <a:srgbClr val="1A1A1A"/>
                </a:solidFill>
                <a:latin typeface="Arial"/>
              </a:rPr>
              <a:t>Lears is a different business:</a:t>
            </a:r>
            <a:r>
              <a:rPr sz="1150" b="0">
                <a:solidFill>
                  <a:srgbClr val="1A1A1A"/>
                </a:solidFill>
                <a:latin typeface="Arial"/>
              </a:rPr>
              <a:t> young tenants, 1.2-yr median stays, +15 net units in June. Expect higher turnover — automated onboarding &amp; payments matter most there.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384048" cy="914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DECISIONS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What this data asks of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6"/>
                </a:solidFill>
                <a:latin typeface="Arial"/>
              </a:rPr>
              <a:t>Store All Barbados — Management Meeting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2014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82296" cy="9601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65376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30613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56231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Arial"/>
              </a:rPr>
              <a:t>Autopay conversion 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856231"/>
            <a:ext cx="6720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B6B6B"/>
                </a:solidFill>
                <a:latin typeface="Arial"/>
              </a:rPr>
              <a:t>343 digital payers (CIBC · Pay Now · Republic) already pay electronically — target them with a one-click standing-instruction ask. Autopay 34% → 50%+ is realistic.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16352"/>
            <a:ext cx="112014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816352"/>
            <a:ext cx="82296" cy="96012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4436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E5FA3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35224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Arial"/>
              </a:rPr>
              <a:t>Recover the 14 Lears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935224"/>
            <a:ext cx="6720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B6B6B"/>
                </a:solidFill>
                <a:latin typeface="Arial"/>
              </a:rPr>
              <a:t>Out-of-service stock is the only vacancy we control: ~$4.8k/mo (~$57k/yr) at average rent. Agree owner, budget and date today.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95344"/>
            <a:ext cx="112014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895344"/>
            <a:ext cx="82296" cy="960120"/>
          </a:xfrm>
          <a:prstGeom prst="rect">
            <a:avLst/>
          </a:prstGeom>
          <a:solidFill>
            <a:srgbClr val="1F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59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8A54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14215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Arial"/>
              </a:rPr>
              <a:t>Take bookings online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014215"/>
            <a:ext cx="6720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B6B6B"/>
                </a:solidFill>
                <a:latin typeface="Arial"/>
              </a:rPr>
              <a:t>1 in 3 tenants finds us online but only 17 ever booked via web. Online reservation &amp; move-in (the customer app) turns discovery into revenue, 24/7.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74336"/>
            <a:ext cx="112014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974336"/>
            <a:ext cx="82296" cy="96012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02351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B7791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093207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Arial"/>
              </a:rPr>
              <a:t>Automate inquiry follow-up + chase the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5093207"/>
            <a:ext cx="6720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B6B6B"/>
                </a:solidFill>
                <a:latin typeface="Arial"/>
              </a:rPr>
              <a:t>84% of scheduled follow-ups never happen — automate the sequence. In collections, focus the 10 units 60+ days ($ concentrated, worst 182 days).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08990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0A6"/>
                </a:solidFill>
                <a:latin typeface="Arial"/>
              </a:rPr>
              <a:t>Sources: SiteLink rent rolls (2 Jul), receipts &amp; deposits (June), marketing rolls, inquiry tracking (Jan–Jun).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