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0" y="0"/>
            <a:ext cx="4517136" cy="64008"/>
          </a:xfrm>
          <a:prstGeom prst="rect">
            <a:avLst/>
          </a:prstGeom>
          <a:solidFill>
            <a:srgbClr val="B0001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300">
                <a:solidFill>
                  <a:srgbClr val="F6A3A3"/>
                </a:solidFill>
                <a:latin typeface="Montserrat"/>
              </a:rPr>
              <a:t>STORE ALL BARBADOS  ·  PERFORMANCE REPORTING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70432"/>
            <a:ext cx="112471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4200" b="1">
                <a:solidFill>
                  <a:srgbClr val="FFFFFF"/>
                </a:solidFill>
                <a:latin typeface="Montserrat"/>
              </a:rPr>
              <a:t>Full house. Digital money.</a:t>
            </a:r>
          </a:p>
          <a:p>
            <a:pPr algn="l">
              <a:lnSpc>
                <a:spcPct val="104000"/>
              </a:lnSpc>
            </a:pPr>
            <a:r>
              <a:rPr sz="4200" b="1">
                <a:solidFill>
                  <a:srgbClr val="E30613"/>
                </a:solidFill>
                <a:latin typeface="Montserrat"/>
              </a:rPr>
              <a:t>Word of mouth</a:t>
            </a:r>
            <a:r>
              <a:rPr sz="4200" b="1">
                <a:solidFill>
                  <a:srgbClr val="FFFFFF"/>
                </a:solidFill>
                <a:latin typeface="Montserrat"/>
              </a:rPr>
              <a:t> pays the rent.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788920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D8D8D8"/>
                </a:solidFill>
                <a:latin typeface="Arial"/>
              </a:rPr>
              <a:t>What the June 2026 data says about where Store All grows next — told in four acts, from the dashboard: occupancy, payments, acquisition and the customer.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977639"/>
            <a:ext cx="2645587" cy="1572768"/>
          </a:xfrm>
          <a:prstGeom prst="roundRect">
            <a:avLst>
              <a:gd name="adj" fmla="val 7000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4160520"/>
            <a:ext cx="384048" cy="384048"/>
          </a:xfrm>
          <a:prstGeom prst="ellipse">
            <a:avLst/>
          </a:prstGeom>
          <a:solidFill>
            <a:srgbClr val="1F1F1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45152"/>
            <a:ext cx="227982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120">
                <a:solidFill>
                  <a:srgbClr val="FFFFFF"/>
                </a:solidFill>
                <a:latin typeface="Montserrat"/>
              </a:rPr>
              <a:t>OCCUPANCY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919472"/>
            <a:ext cx="227982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B8B8B8"/>
                </a:solidFill>
                <a:latin typeface="Arial"/>
              </a:rPr>
              <a:t>We are sold out — 6 units left across 985.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49675" y="3977639"/>
            <a:ext cx="2645587" cy="1572768"/>
          </a:xfrm>
          <a:prstGeom prst="roundRect">
            <a:avLst>
              <a:gd name="adj" fmla="val 7000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32555" y="4160520"/>
            <a:ext cx="384048" cy="384048"/>
          </a:xfrm>
          <a:prstGeom prst="ellipse">
            <a:avLst/>
          </a:prstGeom>
          <a:solidFill>
            <a:srgbClr val="1F1F1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2555" y="4645152"/>
            <a:ext cx="227982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120">
                <a:solidFill>
                  <a:srgbClr val="FFFFFF"/>
                </a:solidFill>
                <a:latin typeface="Montserrat"/>
              </a:rPr>
              <a:t>PAYMENTS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2555" y="4919472"/>
            <a:ext cx="227982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B8B8B8"/>
                </a:solidFill>
                <a:latin typeface="Arial"/>
              </a:rPr>
              <a:t>86% of payers are already digital; autopay is stuck.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6431" y="3977639"/>
            <a:ext cx="2645587" cy="1572768"/>
          </a:xfrm>
          <a:prstGeom prst="roundRect">
            <a:avLst>
              <a:gd name="adj" fmla="val 7000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9311" y="4160520"/>
            <a:ext cx="384048" cy="384048"/>
          </a:xfrm>
          <a:prstGeom prst="ellipse">
            <a:avLst/>
          </a:prstGeom>
          <a:solidFill>
            <a:srgbClr val="1F1F1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9311" y="4645152"/>
            <a:ext cx="227982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120">
                <a:solidFill>
                  <a:srgbClr val="FFFFFF"/>
                </a:solidFill>
                <a:latin typeface="Montserrat"/>
              </a:rPr>
              <a:t>ACQUISITION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9311" y="4919472"/>
            <a:ext cx="227982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B8B8B8"/>
                </a:solidFill>
                <a:latin typeface="Arial"/>
              </a:rPr>
              <a:t>Referrals carry the value; the phone carries the volume.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43187" y="3977639"/>
            <a:ext cx="2645587" cy="1572768"/>
          </a:xfrm>
          <a:prstGeom prst="roundRect">
            <a:avLst>
              <a:gd name="adj" fmla="val 7000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26067" y="4160520"/>
            <a:ext cx="384048" cy="384048"/>
          </a:xfrm>
          <a:prstGeom prst="ellipse">
            <a:avLst/>
          </a:prstGeom>
          <a:solidFill>
            <a:srgbClr val="1F1F1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26067" y="4645152"/>
            <a:ext cx="227982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120">
                <a:solidFill>
                  <a:srgbClr val="FFFFFF"/>
                </a:solidFill>
                <a:latin typeface="Montserrat"/>
              </a:rPr>
              <a:t>CUSTOMER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26067" y="4919472"/>
            <a:ext cx="227982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B8B8B8"/>
                </a:solidFill>
                <a:latin typeface="Arial"/>
              </a:rPr>
              <a:t>Local, residential, location-led — never price-led.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897880"/>
            <a:ext cx="11185855" cy="10972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01675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9A9A9A"/>
                </a:solidFill>
                <a:latin typeface="Arial"/>
              </a:rPr>
              <a:t>Central · South · Lears   —   SiteLink rent roll, receipts, inquiry tracking &amp; marketing summary · June 2026 month-end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9692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A8A8A"/>
                </a:solidFill>
                <a:latin typeface="Arial"/>
              </a:rPr>
              <a:t>Store All Barbados — Data Story · July 2026</a:t>
            </a:r>
            <a:r>
              <a:rPr sz="850" b="0">
                <a:solidFill>
                  <a:srgbClr val="8A8A8A"/>
                </a:solidFill>
                <a:latin typeface="Arial"/>
              </a:rPr>
              <a:t>   ·   Title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8A8A8A"/>
                </a:solidFill>
                <a:latin typeface="Montserrat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384048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1" y="3657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220">
                <a:solidFill>
                  <a:srgbClr val="E30613"/>
                </a:solidFill>
                <a:latin typeface="Montserrat"/>
              </a:rPr>
              <a:t>ACT 01 · OCCUPANCY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1" y="57607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11111"/>
                </a:solidFill>
                <a:latin typeface="Montserrat"/>
              </a:rPr>
              <a:t>We are sold 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1" y="111556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6B6B"/>
                </a:solidFill>
                <a:latin typeface="Arial"/>
              </a:rPr>
              <a:t>June 2026 month-end · 976 of 982 rentable units occupied across three sites (99.4%)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1185855" cy="10972"/>
          </a:xfrm>
          <a:prstGeom prst="rect">
            <a:avLst/>
          </a:prstGeom>
          <a:solidFill>
            <a:srgbClr val="E4E4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RENTABLE OCCUPANCY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30613"/>
                </a:solidFill>
                <a:latin typeface="Montserrat"/>
              </a:rPr>
              <a:t>99.4</a:t>
            </a:r>
            <a:r>
              <a:rPr sz="1400" b="0">
                <a:solidFill>
                  <a:srgbClr val="6B6B6B"/>
                </a:solidFill>
                <a:latin typeface="Montserrat"/>
              </a:rPr>
              <a:t>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976 of 982 rentable units filled — physical occupancy 99.1% of all 985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5103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0551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UNITS LEFT TO SELL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0551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11111"/>
                </a:solidFill>
                <a:latin typeface="Montserrat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0551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vacant rentable units in the whole portfolio: 4 Central · 1 South · 1 Lears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2735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MONTHLY RENT ROLL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2735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11111"/>
                </a:solidFill>
                <a:latin typeface="Montserrat"/>
              </a:rPr>
              <a:t>$274</a:t>
            </a:r>
            <a:r>
              <a:rPr sz="1400" b="0">
                <a:solidFill>
                  <a:srgbClr val="6B6B6B"/>
                </a:solidFill>
                <a:latin typeface="Montserrat"/>
              </a:rPr>
              <a:t>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2735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96.6% of the $283k gross potential — near-zero discounting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29471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4919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NET ABSORPTION · JUNE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4919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11111"/>
                </a:solidFill>
                <a:latin typeface="Montserrat"/>
              </a:rPr>
              <a:t>+21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4919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34 move-ins vs 13 move-outs — vacated units refill immediately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310128"/>
            <a:ext cx="67208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04088" y="35250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392" y="3470148"/>
            <a:ext cx="6172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90">
                <a:solidFill>
                  <a:srgbClr val="222222"/>
                </a:solidFill>
                <a:latin typeface="Montserrat"/>
              </a:rPr>
              <a:t>OCCUPANCY BY SITE — SHARE OF RENTABLE UNITS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845052"/>
            <a:ext cx="960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111"/>
                </a:solidFill>
                <a:latin typeface="Arial"/>
              </a:rPr>
              <a:t>Central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764792" y="3877056"/>
            <a:ext cx="4370832" cy="14630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764792" y="3877056"/>
            <a:ext cx="4332907" cy="146304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3845052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99.1%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059936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Arial"/>
              </a:rPr>
              <a:t>457 of 461 rentable · 4 vacant — The Pine, St. Michael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393692"/>
            <a:ext cx="960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111"/>
                </a:solidFill>
                <a:latin typeface="Arial"/>
              </a:rPr>
              <a:t>South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764792" y="4425696"/>
            <a:ext cx="4370832" cy="14630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764792" y="4425696"/>
            <a:ext cx="4354338" cy="146304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4393692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99.6%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64792" y="4608576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Arial"/>
              </a:rPr>
              <a:t>264 of 265 rentable · 1 vacant — Gibbons, Christ Church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4942331"/>
            <a:ext cx="960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111"/>
                </a:solidFill>
                <a:latin typeface="Arial"/>
              </a:rPr>
              <a:t>Lears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764792" y="4974336"/>
            <a:ext cx="4370832" cy="14630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764792" y="4974336"/>
            <a:ext cx="4353758" cy="146304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63640" y="4942331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99.6%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64792" y="5157216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Arial"/>
              </a:rPr>
              <a:t>255 of 256 rentable · 1 vacant — 14 more units out of service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6640" y="3310128"/>
            <a:ext cx="4282135" cy="2331720"/>
          </a:xfrm>
          <a:prstGeom prst="roundRect">
            <a:avLst>
              <a:gd name="adj" fmla="val 45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406640" y="3355848"/>
            <a:ext cx="50292" cy="2240279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44383" y="3493008"/>
            <a:ext cx="380664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D9D9"/>
                </a:solidFill>
                <a:latin typeface="Montserrat"/>
              </a:rPr>
              <a:t>Churn at the ceiling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44383" y="3840480"/>
            <a:ext cx="3806647" cy="16550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E0E0E0"/>
                </a:solidFill>
                <a:latin typeface="Arial"/>
              </a:rPr>
              <a:t>A small negative month is tenants swapping, not demand falling: every unit vacated in June was re-let within the month. Economic occupancy of </a:t>
            </a:r>
            <a:r>
              <a:rPr sz="1100" b="1">
                <a:solidFill>
                  <a:srgbClr val="FFFFFF"/>
                </a:solidFill>
                <a:latin typeface="Arial"/>
              </a:rPr>
              <a:t>96.6%</a:t>
            </a:r>
            <a:r>
              <a:rPr sz="1100" b="0">
                <a:solidFill>
                  <a:srgbClr val="E0E0E0"/>
                </a:solidFill>
                <a:latin typeface="Arial"/>
              </a:rPr>
              <a:t> means we collect close to full list price — we are not buying this occupancy with discounts.</a:t>
            </a:r>
          </a:p>
          <a:p>
            <a:pPr algn="l">
              <a:lnSpc>
                <a:spcPct val="118000"/>
              </a:lnSpc>
            </a:pPr>
            <a:r>
              <a:rPr sz="1100" b="0">
                <a:solidFill>
                  <a:srgbClr val="E0E0E0"/>
                </a:solidFill>
                <a:latin typeface="Arial"/>
              </a:rPr>
              <a:t>The portfolio has been at this ceiling all year. That is the story of this deck: </a:t>
            </a:r>
            <a:r>
              <a:rPr sz="1100" b="1">
                <a:solidFill>
                  <a:srgbClr val="FFFFFF"/>
                </a:solidFill>
                <a:latin typeface="Arial"/>
              </a:rPr>
              <a:t>the constraint is no longer demand — it is space.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73952"/>
            <a:ext cx="9692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6B6B6B"/>
                </a:solidFill>
                <a:latin typeface="Arial"/>
              </a:rPr>
              <a:t>Store All Barbados — Data Story · July 2026</a:t>
            </a:r>
            <a:r>
              <a:rPr sz="850" b="0">
                <a:solidFill>
                  <a:srgbClr val="6B6B6B"/>
                </a:solidFill>
                <a:latin typeface="Arial"/>
              </a:rPr>
              <a:t>   ·   SiteLink rent roll · June month-end; Lears position as of 2 July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6B6B6B"/>
                </a:solidFill>
                <a:latin typeface="Montserrat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384048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1" y="3657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220">
                <a:solidFill>
                  <a:srgbClr val="E30613"/>
                </a:solidFill>
                <a:latin typeface="Montserrat"/>
              </a:rPr>
              <a:t>ACT 01 · OCCUPANCY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1" y="57607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11111"/>
                </a:solidFill>
                <a:latin typeface="Montserrat"/>
              </a:rPr>
              <a:t>Demand keeps arriving. Supply doesn't.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1" y="111556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6B6B"/>
                </a:solidFill>
                <a:latin typeface="Arial"/>
              </a:rPr>
              <a:t>SiteLink inquiry tracking · leads placed January–June 2026, all three sites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1185855" cy="10972"/>
          </a:xfrm>
          <a:prstGeom prst="rect">
            <a:avLst/>
          </a:prstGeom>
          <a:solidFill>
            <a:srgbClr val="E4E4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6720840" cy="2651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04088" y="1860804"/>
            <a:ext cx="82296" cy="8229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805940"/>
            <a:ext cx="6172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90">
                <a:solidFill>
                  <a:srgbClr val="222222"/>
                </a:solidFill>
                <a:latin typeface="Montserrat"/>
              </a:rPr>
              <a:t>SIX MONTHS OF DEMAND VS WHAT WE CAN SELL 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85416"/>
            <a:ext cx="2148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Inquiries · Jan–Jun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71800" y="2212848"/>
            <a:ext cx="3291840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71800" y="2212848"/>
            <a:ext cx="3291840" cy="219456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16712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>
                <a:solidFill>
                  <a:srgbClr val="222222"/>
                </a:solidFill>
                <a:latin typeface="Montserrat"/>
              </a:rPr>
              <a:t>361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60904"/>
            <a:ext cx="2148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Converted to move-ins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71800" y="2688336"/>
            <a:ext cx="3291840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971800" y="2688336"/>
            <a:ext cx="1258376" cy="219456"/>
          </a:xfrm>
          <a:prstGeom prst="roundRect">
            <a:avLst>
              <a:gd name="adj" fmla="val 50000"/>
            </a:avLst>
          </a:prstGeom>
          <a:solidFill>
            <a:srgbClr val="B0001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264261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>
                <a:solidFill>
                  <a:srgbClr val="222222"/>
                </a:solidFill>
                <a:latin typeface="Montserrat"/>
              </a:rPr>
              <a:t>138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136392"/>
            <a:ext cx="2148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Rentable units vacant today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71800" y="3163824"/>
            <a:ext cx="3291840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971800" y="3163824"/>
            <a:ext cx="64008" cy="21945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311810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>
                <a:solidFill>
                  <a:srgbClr val="E30613"/>
                </a:solidFill>
                <a:latin typeface="Montserrat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694176"/>
            <a:ext cx="6309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111111"/>
                </a:solidFill>
                <a:latin typeface="Arial"/>
              </a:rPr>
              <a:t>361 inquiries chased 6 available units.</a:t>
            </a:r>
            <a:r>
              <a:rPr sz="1050" b="0">
                <a:solidFill>
                  <a:srgbClr val="6B6B6B"/>
                </a:solidFill>
                <a:latin typeface="Arial"/>
              </a:rPr>
              <a:t> Lears — the newest site — absorbed +15 net units in June alone and is now effectively full. The 38% inquiry→move-in rate is demand we largely turn away.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06640" y="1645920"/>
            <a:ext cx="4282135" cy="2651760"/>
          </a:xfrm>
          <a:prstGeom prst="roundRect">
            <a:avLst>
              <a:gd name="adj" fmla="val 45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06640" y="1691640"/>
            <a:ext cx="50292" cy="256032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44383" y="1828800"/>
            <a:ext cx="380664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D9D9"/>
                </a:solidFill>
                <a:latin typeface="Montserrat"/>
              </a:rPr>
              <a:t>We need supply.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44383" y="2176272"/>
            <a:ext cx="3806647" cy="19751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E0E0E0"/>
                </a:solidFill>
                <a:latin typeface="Arial"/>
              </a:rPr>
              <a:t>Growth is capped by capacity, not by the market. At 99.4% full, revenue can only move through </a:t>
            </a:r>
            <a:r>
              <a:rPr sz="1100" b="1">
                <a:solidFill>
                  <a:srgbClr val="FFFFFF"/>
                </a:solidFill>
                <a:latin typeface="Arial"/>
              </a:rPr>
              <a:t>rate</a:t>
            </a:r>
            <a:r>
              <a:rPr sz="1100" b="0">
                <a:solidFill>
                  <a:srgbClr val="E0E0E0"/>
                </a:solidFill>
                <a:latin typeface="Arial"/>
              </a:rPr>
              <a:t> — volume is gone until we add space.</a:t>
            </a:r>
          </a:p>
          <a:p>
            <a:pPr algn="l">
              <a:lnSpc>
                <a:spcPct val="118000"/>
              </a:lnSpc>
            </a:pPr>
            <a:r>
              <a:rPr sz="1100" b="0">
                <a:solidFill>
                  <a:srgbClr val="E0E0E0"/>
                </a:solidFill>
                <a:latin typeface="Arial"/>
              </a:rPr>
              <a:t>Every act that follows — payments, referrals, the website — makes the machine more efficient. But only </a:t>
            </a:r>
            <a:r>
              <a:rPr sz="1100" b="1">
                <a:solidFill>
                  <a:srgbClr val="FFFFFF"/>
                </a:solidFill>
                <a:latin typeface="Arial"/>
              </a:rPr>
              <a:t>new units</a:t>
            </a:r>
            <a:r>
              <a:rPr sz="1100" b="0">
                <a:solidFill>
                  <a:srgbClr val="E0E0E0"/>
                </a:solidFill>
                <a:latin typeface="Arial"/>
              </a:rPr>
              <a:t> let it grow. Expansion is decision #1.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517136"/>
            <a:ext cx="11185855" cy="932688"/>
          </a:xfrm>
          <a:prstGeom prst="roundRect">
            <a:avLst>
              <a:gd name="adj" fmla="val 9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672584"/>
            <a:ext cx="10607040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D9D9"/>
                </a:solidFill>
                <a:latin typeface="Montserrat"/>
              </a:rPr>
              <a:t>The ask:   </a:t>
            </a:r>
            <a:r>
              <a:rPr sz="1800" b="1">
                <a:solidFill>
                  <a:srgbClr val="FFFFFF"/>
                </a:solidFill>
                <a:latin typeface="Montserrat"/>
              </a:rPr>
              <a:t>commit to a supply decision — expand Lears or open site #4.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08406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D9D9"/>
                </a:solidFill>
                <a:latin typeface="Arial"/>
              </a:rPr>
              <a:t>Where the catchment data says it will fill is Act 04.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9692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6B6B6B"/>
                </a:solidFill>
                <a:latin typeface="Arial"/>
              </a:rPr>
              <a:t>Store All Barbados — Data Story · July 2026</a:t>
            </a:r>
            <a:r>
              <a:rPr sz="850" b="0">
                <a:solidFill>
                  <a:srgbClr val="6B6B6B"/>
                </a:solidFill>
                <a:latin typeface="Arial"/>
              </a:rPr>
              <a:t>   ·   SiteLink inquiry tracking Jan–Jun 2026 · rent roll June month-end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6B6B6B"/>
                </a:solidFill>
                <a:latin typeface="Montserrat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384048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1" y="3657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220">
                <a:solidFill>
                  <a:srgbClr val="E30613"/>
                </a:solidFill>
                <a:latin typeface="Montserrat"/>
              </a:rPr>
              <a:t>ACT 02 · PAYMENTS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1" y="57607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11111"/>
                </a:solidFill>
                <a:latin typeface="Montserrat"/>
              </a:rPr>
              <a:t>The money is already digital.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1" y="111556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6B6B"/>
                </a:solidFill>
                <a:latin typeface="Arial"/>
              </a:rPr>
              <a:t>June 2026 receipts, all sites · bank-app transfers reclassified July 2026 — they were never cash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1185855" cy="10972"/>
          </a:xfrm>
          <a:prstGeom prst="rect">
            <a:avLst/>
          </a:prstGeom>
          <a:solidFill>
            <a:srgbClr val="E4E4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PAYERS WHO PAY ELECTRONICALLY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30613"/>
                </a:solidFill>
                <a:latin typeface="Montserrat"/>
              </a:rPr>
              <a:t>86</a:t>
            </a:r>
            <a:r>
              <a:rPr sz="1400" b="0">
                <a:solidFill>
                  <a:srgbClr val="6B6B6B"/>
                </a:solidFill>
                <a:latin typeface="Montserrat"/>
              </a:rPr>
              <a:t>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699 of 812 units paying in June — autopay, bank app, website or card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5103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0551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REVENUE COLLECTED DIGITALLY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0551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11111"/>
                </a:solidFill>
                <a:latin typeface="Montserrat"/>
              </a:rPr>
              <a:t>82.6</a:t>
            </a:r>
            <a:r>
              <a:rPr sz="1400" b="0">
                <a:solidFill>
                  <a:srgbClr val="6B6B6B"/>
                </a:solidFill>
                <a:latin typeface="Montserrat"/>
              </a:rPr>
              <a:t>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0551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$279k of $338k June receipts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2735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BIGGEST SINGLE MONEY CHANNEL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2735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11111"/>
                </a:solidFill>
                <a:latin typeface="Montserrat"/>
              </a:rPr>
              <a:t>$106</a:t>
            </a:r>
            <a:r>
              <a:rPr sz="1400" b="0">
                <a:solidFill>
                  <a:srgbClr val="6B6B6B"/>
                </a:solidFill>
                <a:latin typeface="Montserrat"/>
              </a:rPr>
              <a:t>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2735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CIBC bank-app transfers — 31% of collections, ahead of autopay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29471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4919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STILL PAYING CASH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4919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11111"/>
                </a:solidFill>
                <a:latin typeface="Montserrat"/>
              </a:rPr>
              <a:t>71</a:t>
            </a:r>
            <a:r>
              <a:rPr sz="1400" b="0">
                <a:solidFill>
                  <a:srgbClr val="6B6B6B"/>
                </a:solidFill>
                <a:latin typeface="Montserrat"/>
              </a:rPr>
              <a:t> units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4919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just 9% of collections ($30k) — cash is the tail, not the norm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310128"/>
            <a:ext cx="11185855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04088" y="35250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392" y="34701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90">
                <a:solidFill>
                  <a:srgbClr val="222222"/>
                </a:solidFill>
                <a:latin typeface="Montserrat"/>
              </a:rPr>
              <a:t>HOW THE 812 JUNE PAYERS PAID — UNITS BY TIER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877056"/>
            <a:ext cx="3594657" cy="457200"/>
          </a:xfrm>
          <a:prstGeom prst="roundRect">
            <a:avLst>
              <a:gd name="adj" fmla="val 18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000500"/>
            <a:ext cx="3594657" cy="2103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34%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51780" y="3877056"/>
            <a:ext cx="4506328" cy="457200"/>
          </a:xfrm>
          <a:prstGeom prst="roundRect">
            <a:avLst>
              <a:gd name="adj" fmla="val 18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51780" y="4000500"/>
            <a:ext cx="4506328" cy="2103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42%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3712" y="3877056"/>
            <a:ext cx="1057832" cy="457200"/>
          </a:xfrm>
          <a:prstGeom prst="roundRect">
            <a:avLst>
              <a:gd name="adj" fmla="val 18000"/>
            </a:avLst>
          </a:prstGeom>
          <a:solidFill>
            <a:srgbClr val="7A7A7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83712" y="4000500"/>
            <a:ext cx="1057832" cy="2103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10%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967148" y="3877056"/>
            <a:ext cx="1467423" cy="457200"/>
          </a:xfrm>
          <a:prstGeom prst="roundRect">
            <a:avLst>
              <a:gd name="adj" fmla="val 18000"/>
            </a:avLst>
          </a:prstGeom>
          <a:solidFill>
            <a:srgbClr val="B5B5B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7148" y="4000500"/>
            <a:ext cx="1467423" cy="2103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222222"/>
                </a:solidFill>
                <a:latin typeface="Montserrat"/>
              </a:rPr>
              <a:t>14%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512564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4466844"/>
            <a:ext cx="2462707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Arial"/>
              </a:rPr>
              <a:t>Autopay (Plug &amp; Pay)</a:t>
            </a:r>
            <a:r>
              <a:rPr sz="900" b="0">
                <a:solidFill>
                  <a:srgbClr val="6B6B6B"/>
                </a:solidFill>
                <a:latin typeface="Arial"/>
              </a:rPr>
              <a:t>  274 units · $89k/mo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13683" y="4512564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96563" y="4466844"/>
            <a:ext cx="2462707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Arial"/>
              </a:rPr>
              <a:t>Online / bank app</a:t>
            </a:r>
            <a:r>
              <a:rPr sz="900" b="0">
                <a:solidFill>
                  <a:srgbClr val="6B6B6B"/>
                </a:solidFill>
                <a:latin typeface="Arial"/>
              </a:rPr>
              <a:t>  343 units · $149k/mo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95847" y="4512564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7A7A7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8727" y="4466844"/>
            <a:ext cx="2462707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Arial"/>
              </a:rPr>
              <a:t>Manual card</a:t>
            </a:r>
            <a:r>
              <a:rPr sz="900" b="0">
                <a:solidFill>
                  <a:srgbClr val="6B6B6B"/>
                </a:solidFill>
                <a:latin typeface="Arial"/>
              </a:rPr>
              <a:t>  82 units · $41k/mo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78011" y="4512564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B5B5B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0891" y="4466844"/>
            <a:ext cx="2462707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Arial"/>
              </a:rPr>
              <a:t>Cash / cheque</a:t>
            </a:r>
            <a:r>
              <a:rPr sz="900" b="0">
                <a:solidFill>
                  <a:srgbClr val="6B6B6B"/>
                </a:solidFill>
                <a:latin typeface="Arial"/>
              </a:rPr>
              <a:t>  113 units · $59k/mo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4882896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111111"/>
                </a:solidFill>
                <a:latin typeface="Arial"/>
              </a:rPr>
              <a:t>What changed: </a:t>
            </a:r>
            <a:r>
              <a:rPr sz="1050" b="0">
                <a:solidFill>
                  <a:srgbClr val="6B6B6B"/>
                </a:solidFill>
                <a:latin typeface="Arial"/>
              </a:rPr>
              <a:t>July's reclassification revealed that “Money Order” and “Internet” receipts were CIBC and Republic bank-app transfers, and “Bank Transfer” was the website's Pay Now. The cash-heavy picture was a labelling illusion — customers moved to digital years ago. The gap left is not </a:t>
            </a:r>
            <a:r>
              <a:rPr sz="1050" b="0" i="1">
                <a:solidFill>
                  <a:srgbClr val="6B6B6B"/>
                </a:solidFill>
                <a:latin typeface="Arial"/>
              </a:rPr>
              <a:t>digital vs cash</a:t>
            </a:r>
            <a:r>
              <a:rPr sz="1050" b="0">
                <a:solidFill>
                  <a:srgbClr val="6B6B6B"/>
                </a:solidFill>
                <a:latin typeface="Arial"/>
              </a:rPr>
              <a:t> — it is </a:t>
            </a:r>
            <a:r>
              <a:rPr sz="1050" b="1">
                <a:solidFill>
                  <a:srgbClr val="E30613"/>
                </a:solidFill>
                <a:latin typeface="Arial"/>
              </a:rPr>
              <a:t>automatic vs manual</a:t>
            </a:r>
            <a:r>
              <a:rPr sz="1050" b="0">
                <a:solidFill>
                  <a:srgbClr val="6B6B6B"/>
                </a:solidFill>
                <a:latin typeface="Arial"/>
              </a:rPr>
              <a:t>, which is the next slide.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73952"/>
            <a:ext cx="9692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6B6B6B"/>
                </a:solidFill>
                <a:latin typeface="Arial"/>
              </a:rPr>
              <a:t>Store All Barbados — Data Story · July 2026</a:t>
            </a:r>
            <a:r>
              <a:rPr sz="850" b="0">
                <a:solidFill>
                  <a:srgbClr val="6B6B6B"/>
                </a:solidFill>
                <a:latin typeface="Arial"/>
              </a:rPr>
              <a:t>   ·   SiteLink receipts June 2026 · 812 of 976 occupied units transacted in the window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6B6B6B"/>
                </a:solidFill>
                <a:latin typeface="Montserrat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384048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1" y="3657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220">
                <a:solidFill>
                  <a:srgbClr val="E30613"/>
                </a:solidFill>
                <a:latin typeface="Montserrat"/>
              </a:rPr>
              <a:t>ACT 02 · PAYMENTS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1" y="57607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11111"/>
                </a:solidFill>
                <a:latin typeface="Montserrat"/>
              </a:rPr>
              <a:t>Autopay is stuck. 425 units are one click away.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1" y="111556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6B6B"/>
                </a:solidFill>
                <a:latin typeface="Arial"/>
              </a:rPr>
              <a:t>Plug &amp; Pay share of 978 occupied units, January–June 2026 · June receipts by conversion tier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1185855" cy="10972"/>
          </a:xfrm>
          <a:prstGeom prst="rect">
            <a:avLst/>
          </a:prstGeom>
          <a:solidFill>
            <a:srgbClr val="E4E4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512064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04088" y="1860804"/>
            <a:ext cx="82296" cy="8229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80594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90">
                <a:solidFill>
                  <a:srgbClr val="222222"/>
                </a:solidFill>
                <a:latin typeface="Montserrat"/>
              </a:rPr>
              <a:t>AUTOPAY ADOPTION — SIX FLAT MONTHS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95467"/>
            <a:ext cx="670560" cy="1135284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76011"/>
            <a:ext cx="85344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222222"/>
                </a:solidFill>
                <a:latin typeface="Montserrat"/>
              </a:rPr>
              <a:t>27.4%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76472"/>
            <a:ext cx="85344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6B6B"/>
                </a:solidFill>
                <a:latin typeface="Arial"/>
              </a:rPr>
              <a:t>Jan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30096" y="2583037"/>
            <a:ext cx="670560" cy="1147714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8656" y="2363581"/>
            <a:ext cx="85344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222222"/>
                </a:solidFill>
                <a:latin typeface="Montserrat"/>
              </a:rPr>
              <a:t>27.7%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8656" y="3776472"/>
            <a:ext cx="85344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6B6B"/>
                </a:solidFill>
                <a:latin typeface="Arial"/>
              </a:rPr>
              <a:t>Feb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28672" y="2558176"/>
            <a:ext cx="670560" cy="1172575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37232" y="2338720"/>
            <a:ext cx="85344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222222"/>
                </a:solidFill>
                <a:latin typeface="Montserrat"/>
              </a:rPr>
              <a:t>28.3%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37232" y="3776472"/>
            <a:ext cx="85344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6B6B"/>
                </a:solidFill>
                <a:latin typeface="Arial"/>
              </a:rPr>
              <a:t>Mar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27248" y="2545746"/>
            <a:ext cx="670560" cy="1185005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35808" y="2326290"/>
            <a:ext cx="85344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222222"/>
                </a:solidFill>
                <a:latin typeface="Montserrat"/>
              </a:rPr>
              <a:t>28.6%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35808" y="3776472"/>
            <a:ext cx="85344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6B6B"/>
                </a:solidFill>
                <a:latin typeface="Arial"/>
              </a:rPr>
              <a:t>Apr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25823" y="2549890"/>
            <a:ext cx="670560" cy="1180861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34384" y="2330434"/>
            <a:ext cx="85344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222222"/>
                </a:solidFill>
                <a:latin typeface="Montserrat"/>
              </a:rPr>
              <a:t>28.5%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34384" y="3776472"/>
            <a:ext cx="85344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6B6B"/>
                </a:solidFill>
                <a:latin typeface="Arial"/>
              </a:rPr>
              <a:t>May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24399" y="2570607"/>
            <a:ext cx="670560" cy="1160145"/>
          </a:xfrm>
          <a:prstGeom prst="roundRect">
            <a:avLst>
              <a:gd name="adj" fmla="val 12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32960" y="2351151"/>
            <a:ext cx="85344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222222"/>
                </a:solidFill>
                <a:latin typeface="Montserrat"/>
              </a:rPr>
              <a:t>28.0%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32960" y="3776472"/>
            <a:ext cx="85344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6B6B"/>
                </a:solidFill>
                <a:latin typeface="Arial"/>
              </a:rPr>
              <a:t>Jun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02336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+0.6pp in six months.</a:t>
            </a:r>
            <a:r>
              <a:rPr sz="1000" b="0">
                <a:solidFill>
                  <a:srgbClr val="6B6B6B"/>
                </a:solidFill>
                <a:latin typeface="Arial"/>
              </a:rPr>
              <a:t> Organic growth will not shift the mix — it needs a push.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06440" y="1645920"/>
            <a:ext cx="6382512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007607" y="1860804"/>
            <a:ext cx="82296" cy="8229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53912" y="1805940"/>
            <a:ext cx="583387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90">
                <a:solidFill>
                  <a:srgbClr val="222222"/>
                </a:solidFill>
                <a:latin typeface="Montserrat"/>
              </a:rPr>
              <a:t>THE CONVERSION LADDER — JUNE PAYERS BY DISTANCE FROM AUTOPAY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2194560"/>
            <a:ext cx="82296" cy="47548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45352" y="2176272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11111"/>
                </a:solidFill>
                <a:latin typeface="Montserrat"/>
              </a:rPr>
              <a:t>On autopay today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2432304"/>
            <a:ext cx="4892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Arial"/>
              </a:rPr>
              <a:t>Plug &amp; Pay — the destination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2157984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100" b="1">
                <a:solidFill>
                  <a:srgbClr val="E30613"/>
                </a:solidFill>
                <a:latin typeface="Montserrat"/>
              </a:rPr>
              <a:t>274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2798064"/>
            <a:ext cx="82296" cy="475488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45352" y="2779776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11111"/>
                </a:solidFill>
                <a:latin typeface="Montserrat"/>
              </a:rPr>
              <a:t>One click away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2" y="3035808"/>
            <a:ext cx="4892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Arial"/>
              </a:rPr>
              <a:t>343 bank-app / Pay Now + 82 manual card — already digital, just manual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2761488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100" b="1">
                <a:solidFill>
                  <a:srgbClr val="222222"/>
                </a:solidFill>
                <a:latin typeface="Montserrat"/>
              </a:rPr>
              <a:t>425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3401568"/>
            <a:ext cx="82296" cy="475488"/>
          </a:xfrm>
          <a:prstGeom prst="rect">
            <a:avLst/>
          </a:prstGeom>
          <a:solidFill>
            <a:srgbClr val="B5B5B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45352" y="3383280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11111"/>
                </a:solidFill>
                <a:latin typeface="Montserrat"/>
              </a:rPr>
              <a:t>The hard tail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45352" y="3639312"/>
            <a:ext cx="4892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Arial"/>
              </a:rPr>
              <a:t>cash &amp; cheque — needs an ACH offer at renewal, not a nudge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3364992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100" b="1">
                <a:solidFill>
                  <a:srgbClr val="6B6B6B"/>
                </a:solidFill>
                <a:latin typeface="Montserrat"/>
              </a:rPr>
              <a:t>113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40" y="4023359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B6B"/>
                </a:solidFill>
                <a:latin typeface="Arial"/>
              </a:rPr>
              <a:t>Convert the one-click tier and autopay reaches </a:t>
            </a:r>
            <a:r>
              <a:rPr sz="1050" b="1">
                <a:solidFill>
                  <a:srgbClr val="E30613"/>
                </a:solidFill>
                <a:latin typeface="Arial"/>
              </a:rPr>
              <a:t>~72% of occupied units</a:t>
            </a:r>
            <a:r>
              <a:rPr sz="1050" b="0">
                <a:solidFill>
                  <a:srgbClr val="6B6B6B"/>
                </a:solidFill>
                <a:latin typeface="Arial"/>
              </a:rPr>
              <a:t>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4590288"/>
            <a:ext cx="11185855" cy="1024128"/>
          </a:xfrm>
          <a:prstGeom prst="roundRect">
            <a:avLst>
              <a:gd name="adj" fmla="val 45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4636008"/>
            <a:ext cx="50292" cy="93268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0664" y="4773168"/>
            <a:ext cx="107103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D9D9"/>
                </a:solidFill>
                <a:latin typeface="Montserrat"/>
              </a:rPr>
              <a:t>The ask: run the switch campaign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" y="5120640"/>
            <a:ext cx="1071036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E0E0E0"/>
                </a:solidFill>
                <a:latin typeface="Arial"/>
              </a:rPr>
              <a:t>One targeted message to the 343 bank-app &amp; Pay Now payers (“make it recurring”), a tick-box prompt for the 82 manual card payers at their next payment, and an ACH offer to cash &amp; cheque at renewal. Every converted unit removes a monthly manual touch and cuts late-payment risk.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6473952"/>
            <a:ext cx="9692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6B6B6B"/>
                </a:solidFill>
                <a:latin typeface="Arial"/>
              </a:rPr>
              <a:t>Store All Barbados — Data Story · July 2026</a:t>
            </a:r>
            <a:r>
              <a:rPr sz="850" b="0">
                <a:solidFill>
                  <a:srgbClr val="6B6B6B"/>
                </a:solidFill>
                <a:latin typeface="Arial"/>
              </a:rPr>
              <a:t>   ·   SiteLink receipts Jan–Jun 2026 · autopay share of occupied units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6B6B6B"/>
                </a:solidFill>
                <a:latin typeface="Montserrat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384048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1" y="3657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220">
                <a:solidFill>
                  <a:srgbClr val="E30613"/>
                </a:solidFill>
                <a:latin typeface="Montserrat"/>
              </a:rPr>
              <a:t>ACT 03 · ACQUISITION — HOW THEY FOUND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1" y="57607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11111"/>
                </a:solidFill>
                <a:latin typeface="Montserrat"/>
              </a:rPr>
              <a:t>Word of mouth is the value engine.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1" y="111556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6B6B"/>
                </a:solidFill>
                <a:latin typeface="Arial"/>
              </a:rPr>
              <a:t>SiteLink marketing category · 974 occupied tenants · lifetime value = cumulative rent per tenant, $12.5M total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1185855" cy="10972"/>
          </a:xfrm>
          <a:prstGeom prst="rect">
            <a:avLst/>
          </a:prstGeom>
          <a:solidFill>
            <a:srgbClr val="E4E4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85855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04088" y="1860804"/>
            <a:ext cx="82296" cy="8229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805940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90">
                <a:solidFill>
                  <a:srgbClr val="222222"/>
                </a:solidFill>
                <a:latin typeface="Montserrat"/>
              </a:rPr>
              <a:t>HOW THE CURRENT BASE FOUND STORE ALL — 974 TENANTS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57984"/>
            <a:ext cx="3565301" cy="384048"/>
          </a:xfrm>
          <a:prstGeom prst="roundRect">
            <a:avLst>
              <a:gd name="adj" fmla="val 18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44852"/>
            <a:ext cx="3565301" cy="2103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33%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2425" y="2157984"/>
            <a:ext cx="2364661" cy="384048"/>
          </a:xfrm>
          <a:prstGeom prst="roundRect">
            <a:avLst>
              <a:gd name="adj" fmla="val 18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2425" y="2244852"/>
            <a:ext cx="2364661" cy="2103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22%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12690" y="2157984"/>
            <a:ext cx="1736804" cy="384048"/>
          </a:xfrm>
          <a:prstGeom prst="roundRect">
            <a:avLst>
              <a:gd name="adj" fmla="val 18000"/>
            </a:avLst>
          </a:prstGeom>
          <a:solidFill>
            <a:srgbClr val="B0001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12690" y="2244852"/>
            <a:ext cx="1736804" cy="2103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16%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75097" y="2157984"/>
            <a:ext cx="899660" cy="384048"/>
          </a:xfrm>
          <a:prstGeom prst="roundRect">
            <a:avLst>
              <a:gd name="adj" fmla="val 18000"/>
            </a:avLst>
          </a:prstGeom>
          <a:solidFill>
            <a:srgbClr val="7A7A7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75097" y="2244852"/>
            <a:ext cx="899660" cy="2103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00361" y="2157984"/>
            <a:ext cx="635299" cy="384048"/>
          </a:xfrm>
          <a:prstGeom prst="roundRect">
            <a:avLst>
              <a:gd name="adj" fmla="val 18000"/>
            </a:avLst>
          </a:prstGeom>
          <a:solidFill>
            <a:srgbClr val="B886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361" y="2244852"/>
            <a:ext cx="635299" cy="2103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6%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61264" y="2157984"/>
            <a:ext cx="40487" cy="384048"/>
          </a:xfrm>
          <a:prstGeom prst="roundRect">
            <a:avLst>
              <a:gd name="adj" fmla="val 18000"/>
            </a:avLst>
          </a:prstGeom>
          <a:solidFill>
            <a:srgbClr val="3B59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127354" y="2157984"/>
            <a:ext cx="1108946" cy="384048"/>
          </a:xfrm>
          <a:prstGeom prst="roundRect">
            <a:avLst>
              <a:gd name="adj" fmla="val 18000"/>
            </a:avLst>
          </a:prstGeom>
          <a:solidFill>
            <a:srgbClr val="B5B5B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27354" y="2244852"/>
            <a:ext cx="1108946" cy="2103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222222"/>
                </a:solidFill>
                <a:latin typeface="Montserrat"/>
              </a:rPr>
              <a:t>11%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261904" y="2157984"/>
            <a:ext cx="172667" cy="384048"/>
          </a:xfrm>
          <a:prstGeom prst="roundRect">
            <a:avLst>
              <a:gd name="adj" fmla="val 18000"/>
            </a:avLst>
          </a:prstGeom>
          <a:solidFill>
            <a:srgbClr val="D5D5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520" y="2683764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2638044"/>
            <a:ext cx="112162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11111"/>
                </a:solidFill>
                <a:latin typeface="Arial"/>
              </a:rPr>
              <a:t>Internet</a:t>
            </a:r>
            <a:r>
              <a:rPr sz="750" b="0">
                <a:solidFill>
                  <a:srgbClr val="6B6B6B"/>
                </a:solidFill>
                <a:latin typeface="Arial"/>
              </a:rPr>
              <a:t>  326 · 33%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72601" y="2683764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55481" y="2638044"/>
            <a:ext cx="112162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11111"/>
                </a:solidFill>
                <a:latin typeface="Arial"/>
              </a:rPr>
              <a:t>Referral</a:t>
            </a:r>
            <a:r>
              <a:rPr sz="750" b="0">
                <a:solidFill>
                  <a:srgbClr val="6B6B6B"/>
                </a:solidFill>
                <a:latin typeface="Arial"/>
              </a:rPr>
              <a:t>  217 · 22%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13683" y="2683764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B0001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96563" y="2638044"/>
            <a:ext cx="112162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11111"/>
                </a:solidFill>
                <a:latin typeface="Arial"/>
              </a:rPr>
              <a:t>Prev tenant</a:t>
            </a:r>
            <a:r>
              <a:rPr sz="750" b="0">
                <a:solidFill>
                  <a:srgbClr val="6B6B6B"/>
                </a:solidFill>
                <a:latin typeface="Arial"/>
              </a:rPr>
              <a:t>  160 · 16%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765" y="2683764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7A7A7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645" y="2638044"/>
            <a:ext cx="112162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11111"/>
                </a:solidFill>
                <a:latin typeface="Arial"/>
              </a:rPr>
              <a:t>Drive-by</a:t>
            </a:r>
            <a:r>
              <a:rPr sz="750" b="0">
                <a:solidFill>
                  <a:srgbClr val="6B6B6B"/>
                </a:solidFill>
                <a:latin typeface="Arial"/>
              </a:rPr>
              <a:t>  84 · 9%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95847" y="2683764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B886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638044"/>
            <a:ext cx="112162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11111"/>
                </a:solidFill>
                <a:latin typeface="Arial"/>
              </a:rPr>
              <a:t>Y. Pages</a:t>
            </a:r>
            <a:r>
              <a:rPr sz="750" b="0">
                <a:solidFill>
                  <a:srgbClr val="6B6B6B"/>
                </a:solidFill>
                <a:latin typeface="Arial"/>
              </a:rPr>
              <a:t>  60 · 6%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36929" y="2683764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3B59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19809" y="2638044"/>
            <a:ext cx="112162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11111"/>
                </a:solidFill>
                <a:latin typeface="Arial"/>
              </a:rPr>
              <a:t>Facebook</a:t>
            </a:r>
            <a:r>
              <a:rPr sz="750" b="0">
                <a:solidFill>
                  <a:srgbClr val="6B6B6B"/>
                </a:solidFill>
                <a:latin typeface="Arial"/>
              </a:rPr>
              <a:t>  6 · 1%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778011" y="2683764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B5B5B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0891" y="2638044"/>
            <a:ext cx="112162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11111"/>
                </a:solidFill>
                <a:latin typeface="Arial"/>
              </a:rPr>
              <a:t>Other</a:t>
            </a:r>
            <a:r>
              <a:rPr sz="750" b="0">
                <a:solidFill>
                  <a:srgbClr val="6B6B6B"/>
                </a:solidFill>
                <a:latin typeface="Arial"/>
              </a:rPr>
              <a:t>  103 · 11%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119093" y="2683764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D5D5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01973" y="2638044"/>
            <a:ext cx="112162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11111"/>
                </a:solidFill>
                <a:latin typeface="Arial"/>
              </a:rPr>
              <a:t>Unknown</a:t>
            </a:r>
            <a:r>
              <a:rPr sz="750" b="0">
                <a:solidFill>
                  <a:srgbClr val="6B6B6B"/>
                </a:solidFill>
                <a:latin typeface="Arial"/>
              </a:rPr>
              <a:t>  18 · 2%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3328416"/>
            <a:ext cx="6720840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04088" y="35433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" y="3488436"/>
            <a:ext cx="6172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90">
                <a:solidFill>
                  <a:srgbClr val="222222"/>
                </a:solidFill>
                <a:latin typeface="Montserrat"/>
              </a:rPr>
              <a:t>LIFETIME VALUE PER TENANT, BY SOURCE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3808476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Referral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267712" y="3840480"/>
            <a:ext cx="3730752" cy="1371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267712" y="3840480"/>
            <a:ext cx="3640467" cy="137160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26479" y="3808476"/>
            <a:ext cx="868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$14,637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155948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Previous tenant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67712" y="4187952"/>
            <a:ext cx="3730752" cy="1371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267712" y="4187952"/>
            <a:ext cx="3105229" cy="137160"/>
          </a:xfrm>
          <a:prstGeom prst="roundRect">
            <a:avLst>
              <a:gd name="adj" fmla="val 50000"/>
            </a:avLst>
          </a:prstGeom>
          <a:solidFill>
            <a:srgbClr val="B0001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26479" y="4155948"/>
            <a:ext cx="868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$12,485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4503420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Drive-by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267712" y="4535424"/>
            <a:ext cx="3730752" cy="1371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2267712" y="4535424"/>
            <a:ext cx="2979378" cy="137160"/>
          </a:xfrm>
          <a:prstGeom prst="roundRect">
            <a:avLst>
              <a:gd name="adj" fmla="val 50000"/>
            </a:avLst>
          </a:prstGeom>
          <a:solidFill>
            <a:srgbClr val="7A7A7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26479" y="4503420"/>
            <a:ext cx="868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$11,979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48508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Internet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267712" y="4882896"/>
            <a:ext cx="3730752" cy="1371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267712" y="4882896"/>
            <a:ext cx="2396883" cy="137160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6479" y="4850892"/>
            <a:ext cx="868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$9,637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5248655"/>
            <a:ext cx="6263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Arial"/>
              </a:rPr>
              <a:t>Yellow Pages tops the table at ~$21k/tenant but is a shrinking legacy book of 60 long-tenured commercial accounts. Internet brings the most tenants — at the lowest value per head.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406640" y="3328416"/>
            <a:ext cx="4282135" cy="2377440"/>
          </a:xfrm>
          <a:prstGeom prst="roundRect">
            <a:avLst>
              <a:gd name="adj" fmla="val 45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06640" y="3374136"/>
            <a:ext cx="50292" cy="228600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644383" y="3511296"/>
            <a:ext cx="380664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D9D9"/>
                </a:solidFill>
                <a:latin typeface="Montserrat"/>
              </a:rPr>
              <a:t>Referrals punch above their weight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44383" y="3858768"/>
            <a:ext cx="3806647" cy="1700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E0E0E0"/>
                </a:solidFill>
                <a:latin typeface="Arial"/>
              </a:rPr>
              <a:t>Referral + previous tenant are </a:t>
            </a:r>
            <a:r>
              <a:rPr sz="1100" b="1">
                <a:solidFill>
                  <a:srgbClr val="FFFFFF"/>
                </a:solidFill>
                <a:latin typeface="Arial"/>
              </a:rPr>
              <a:t>39% of tenants but 41% of all lifetime value — $5.2M</a:t>
            </a:r>
            <a:r>
              <a:rPr sz="1100" b="0">
                <a:solidFill>
                  <a:srgbClr val="E0E0E0"/>
                </a:solidFill>
                <a:latin typeface="Arial"/>
              </a:rPr>
              <a:t>. A referred tenant is worth </a:t>
            </a:r>
            <a:r>
              <a:rPr sz="1100" b="1">
                <a:solidFill>
                  <a:srgbClr val="FFFFFF"/>
                </a:solidFill>
                <a:latin typeface="Arial"/>
              </a:rPr>
              <a:t>$14.6k</a:t>
            </a:r>
            <a:r>
              <a:rPr sz="1100" b="0">
                <a:solidFill>
                  <a:srgbClr val="E0E0E0"/>
                </a:solidFill>
                <a:latin typeface="Arial"/>
              </a:rPr>
              <a:t>, 52% more than an internet-sourced one.</a:t>
            </a:r>
          </a:p>
          <a:p>
            <a:pPr algn="l">
              <a:lnSpc>
                <a:spcPct val="118000"/>
              </a:lnSpc>
            </a:pPr>
            <a:r>
              <a:rPr sz="1100" b="0">
                <a:solidFill>
                  <a:srgbClr val="E0E0E0"/>
                </a:solidFill>
                <a:latin typeface="Arial"/>
              </a:rPr>
              <a:t>And we currently pay nothing for it. </a:t>
            </a:r>
            <a:r>
              <a:rPr sz="1100" b="1">
                <a:solidFill>
                  <a:srgbClr val="FFD9D9"/>
                </a:solidFill>
                <a:latin typeface="Arial"/>
              </a:rPr>
              <a:t>The ask:</a:t>
            </a:r>
            <a:r>
              <a:rPr sz="1100" b="0">
                <a:solidFill>
                  <a:srgbClr val="E0E0E0"/>
                </a:solidFill>
                <a:latin typeface="Arial"/>
              </a:rPr>
              <a:t> formalise it — a referral credit for existing tenants and a win-back offer at move-out.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6473952"/>
            <a:ext cx="9692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6B6B6B"/>
                </a:solidFill>
                <a:latin typeface="Arial"/>
              </a:rPr>
              <a:t>Store All Barbados — Data Story · July 2026</a:t>
            </a:r>
            <a:r>
              <a:rPr sz="850" b="0">
                <a:solidFill>
                  <a:srgbClr val="6B6B6B"/>
                </a:solidFill>
                <a:latin typeface="Arial"/>
              </a:rPr>
              <a:t>   ·   SiteLink marketing summary (sMktCat) · occupied base + cumulative rent value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6B6B6B"/>
                </a:solidFill>
                <a:latin typeface="Montserrat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384048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1" y="3657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220">
                <a:solidFill>
                  <a:srgbClr val="E30613"/>
                </a:solidFill>
                <a:latin typeface="Montserrat"/>
              </a:rPr>
              <a:t>ACT 03 · ACQUISITION — HOW THEY REACHED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1" y="57607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11111"/>
                </a:solidFill>
                <a:latin typeface="Montserrat"/>
              </a:rPr>
              <a:t>They find us online — then they phone.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1" y="111556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6B6B"/>
                </a:solidFill>
                <a:latin typeface="Arial"/>
              </a:rPr>
              <a:t>SiteLink enquiry channel · 979 occupied units · contact channel, distinct from the marketing source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1185855" cy="10972"/>
          </a:xfrm>
          <a:prstGeom prst="rect">
            <a:avLst/>
          </a:prstGeom>
          <a:solidFill>
            <a:srgbClr val="E4E4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CONTACTED US BY PHONE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11111"/>
                </a:solidFill>
                <a:latin typeface="Montserrat"/>
              </a:rPr>
              <a:t>61</a:t>
            </a:r>
            <a:r>
              <a:rPr sz="1400" b="0">
                <a:solidFill>
                  <a:srgbClr val="6B6B6B"/>
                </a:solidFill>
                <a:latin typeface="Montserrat"/>
              </a:rPr>
              <a:t>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602 of 979 tenants — the phone is the front door at every site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5103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0551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FOUND US ON THE INTERNET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0551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11111"/>
                </a:solidFill>
                <a:latin typeface="Montserrat"/>
              </a:rPr>
              <a:t>34</a:t>
            </a:r>
            <a:r>
              <a:rPr sz="1400" b="0">
                <a:solidFill>
                  <a:srgbClr val="6B6B6B"/>
                </a:solidFill>
                <a:latin typeface="Montserrat"/>
              </a:rPr>
              <a:t>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0551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332 tenants incl. Facebook — discovery is already digital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2735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EVER BOOKED VIA THE WEBSITE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2735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30613"/>
                </a:solidFill>
                <a:latin typeface="Montserrat"/>
              </a:rPr>
              <a:t>1.7</a:t>
            </a:r>
            <a:r>
              <a:rPr sz="1400" b="0">
                <a:solidFill>
                  <a:srgbClr val="6B6B6B"/>
                </a:solidFill>
                <a:latin typeface="Montserrat"/>
              </a:rPr>
              <a:t>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2735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17 tenants in the entire base — most predate 2020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29471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4919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WEB BOOKINGS, LAST 12 MONTHS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4919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30613"/>
                </a:solidFill>
                <a:latin typeface="Montserrat"/>
              </a:rPr>
              <a:t>1</a:t>
            </a:r>
            <a:r>
              <a:rPr sz="1400" b="0">
                <a:solidFill>
                  <a:srgbClr val="6B6B6B"/>
                </a:solidFill>
                <a:latin typeface="Montserrat"/>
              </a:rPr>
              <a:t> of 270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4919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one web move-in out of 270 recent — the funnel is broken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310128"/>
            <a:ext cx="67208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04088" y="35250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392" y="3470148"/>
            <a:ext cx="6172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90">
                <a:solidFill>
                  <a:srgbClr val="222222"/>
                </a:solidFill>
                <a:latin typeface="Montserrat"/>
              </a:rPr>
              <a:t>CONTACT CHANNEL MIX — 979 OCCUPIED UNITS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845052"/>
            <a:ext cx="1371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Phone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76272" y="3877056"/>
            <a:ext cx="3685032" cy="1371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176272" y="3877056"/>
            <a:ext cx="3486114" cy="137160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89319" y="3845052"/>
            <a:ext cx="1005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602 · 61%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187952"/>
            <a:ext cx="1371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Not recorded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76272" y="4219956"/>
            <a:ext cx="3685032" cy="1371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176272" y="4219956"/>
            <a:ext cx="955496" cy="137160"/>
          </a:xfrm>
          <a:prstGeom prst="roundRect">
            <a:avLst>
              <a:gd name="adj" fmla="val 50000"/>
            </a:avLst>
          </a:prstGeom>
          <a:solidFill>
            <a:srgbClr val="D5D5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89319" y="4187952"/>
            <a:ext cx="1005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165 · 17%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530852"/>
            <a:ext cx="1371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Walk-in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76272" y="4562856"/>
            <a:ext cx="3685032" cy="1371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176272" y="4562856"/>
            <a:ext cx="857051" cy="137160"/>
          </a:xfrm>
          <a:prstGeom prst="roundRect">
            <a:avLst>
              <a:gd name="adj" fmla="val 50000"/>
            </a:avLst>
          </a:prstGeom>
          <a:solidFill>
            <a:srgbClr val="7A7A7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89319" y="4530852"/>
            <a:ext cx="1005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148 · 15%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4873752"/>
            <a:ext cx="1371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Email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176272" y="4905756"/>
            <a:ext cx="3685032" cy="1371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176272" y="4905756"/>
            <a:ext cx="272171" cy="137160"/>
          </a:xfrm>
          <a:prstGeom prst="roundRect">
            <a:avLst>
              <a:gd name="adj" fmla="val 50000"/>
            </a:avLst>
          </a:prstGeom>
          <a:solidFill>
            <a:srgbClr val="B0001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89319" y="4873752"/>
            <a:ext cx="1005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47 · 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216652"/>
            <a:ext cx="1371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Web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176272" y="5248656"/>
            <a:ext cx="3685032" cy="1371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176272" y="5248656"/>
            <a:ext cx="98445" cy="137160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89319" y="5216652"/>
            <a:ext cx="1005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17 · 2%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406640" y="3310128"/>
            <a:ext cx="4282135" cy="2331720"/>
          </a:xfrm>
          <a:prstGeom prst="roundRect">
            <a:avLst>
              <a:gd name="adj" fmla="val 45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406640" y="3355848"/>
            <a:ext cx="50292" cy="2240279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44383" y="3493008"/>
            <a:ext cx="380664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D9D9"/>
                </a:solidFill>
                <a:latin typeface="Montserrat"/>
              </a:rPr>
              <a:t>A brochure, not a funnel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44383" y="3840480"/>
            <a:ext cx="3806647" cy="16550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E0E0E0"/>
                </a:solidFill>
                <a:latin typeface="Arial"/>
              </a:rPr>
              <a:t>A third of tenants </a:t>
            </a:r>
            <a:r>
              <a:rPr sz="1100" b="0" i="1">
                <a:solidFill>
                  <a:srgbClr val="E0E0E0"/>
                </a:solidFill>
                <a:latin typeface="Arial"/>
              </a:rPr>
              <a:t>discover</a:t>
            </a:r>
            <a:r>
              <a:rPr sz="1100" b="0">
                <a:solidFill>
                  <a:srgbClr val="E0E0E0"/>
                </a:solidFill>
                <a:latin typeface="Arial"/>
              </a:rPr>
              <a:t> us online — then pick up the phone to book. Discovery is digital; booking is analog. That gap is the website.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FFD9D9"/>
                </a:solidFill>
                <a:latin typeface="Arial"/>
              </a:rPr>
              <a:t>The ask:</a:t>
            </a:r>
            <a:r>
              <a:rPr sz="1100" b="0">
                <a:solidFill>
                  <a:srgbClr val="E0E0E0"/>
                </a:solidFill>
                <a:latin typeface="Arial"/>
              </a:rPr>
              <a:t> rebuild it as a booking channel — live availability, prices, “Reserve now” — and own local search (Google Business Profile, click-to-call). Its Pay Now already collects $41k/mo; the front of the site should work as hard as the back.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473952"/>
            <a:ext cx="9692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6B6B6B"/>
                </a:solidFill>
                <a:latin typeface="Arial"/>
              </a:rPr>
              <a:t>Store All Barbados — Data Story · July 2026</a:t>
            </a:r>
            <a:r>
              <a:rPr sz="850" b="0">
                <a:solidFill>
                  <a:srgbClr val="6B6B6B"/>
                </a:solidFill>
                <a:latin typeface="Arial"/>
              </a:rPr>
              <a:t>   ·   SiteLink InquirySource · occupied base; recent = move-ins in the last 12 months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6B6B6B"/>
                </a:solidFill>
                <a:latin typeface="Montserrat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384048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1" y="3657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220">
                <a:solidFill>
                  <a:srgbClr val="E30613"/>
                </a:solidFill>
                <a:latin typeface="Montserrat"/>
              </a:rPr>
              <a:t>ACT 03 · THE NEW WEBSITE —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1" y="57607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11111"/>
                </a:solidFill>
                <a:latin typeface="Montserrat"/>
              </a:rPr>
              <a:t>The fix is in flight: first mockups are 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1" y="111556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6B6B"/>
                </a:solidFill>
                <a:latin typeface="Arial"/>
              </a:rPr>
              <a:t>Store All Central homepage — desktop &amp; mobile design mockups · received this week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1185855" cy="10972"/>
          </a:xfrm>
          <a:prstGeom prst="rect">
            <a:avLst/>
          </a:prstGeom>
          <a:solidFill>
            <a:srgbClr val="E4E4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website-mockup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82496"/>
            <a:ext cx="5466675" cy="4224528"/>
          </a:xfrm>
          <a:prstGeom prst="rect">
            <a:avLst/>
          </a:prstGeom>
          <a:ln w="12700">
            <a:solidFill>
              <a:srgbClr val="E4E4E4"/>
            </a:solidFill>
          </a:ln>
          <a:effectLst/>
        </p:spPr>
      </p:pic>
      <p:pic>
        <p:nvPicPr>
          <p:cNvPr id="8" name="Picture 7" descr="website-mockup-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0762" y="1682496"/>
            <a:ext cx="1345916" cy="4224528"/>
          </a:xfrm>
          <a:prstGeom prst="rect">
            <a:avLst/>
          </a:prstGeom>
          <a:ln w="12700">
            <a:solidFill>
              <a:srgbClr val="E4E4E4"/>
            </a:solidFill>
          </a:ln>
          <a:effectLst/>
        </p:spPr>
      </p:pic>
      <p:sp>
        <p:nvSpPr>
          <p:cNvPr id="9" name="Rounded Rectangle 8"/>
          <p:cNvSpPr/>
          <p:nvPr/>
        </p:nvSpPr>
        <p:spPr>
          <a:xfrm>
            <a:off x="7772710" y="1682496"/>
            <a:ext cx="3916064" cy="42245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73878" y="1897380"/>
            <a:ext cx="82296" cy="8229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20182" y="1842516"/>
            <a:ext cx="3367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90">
                <a:solidFill>
                  <a:srgbClr val="222222"/>
                </a:solidFill>
                <a:latin typeface="Montserrat"/>
              </a:rPr>
              <a:t>WHAT THIS ALREADY FIXES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878" y="2235708"/>
            <a:ext cx="82296" cy="8229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470" y="2176272"/>
            <a:ext cx="3367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Live pricing &amp; availability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470" y="2377440"/>
            <a:ext cx="3367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6B6B6B"/>
                </a:solidFill>
                <a:latin typeface="Arial"/>
              </a:rPr>
              <a:t>the “check availability” widget Act 03 asked for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3878" y="27477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470" y="2688336"/>
            <a:ext cx="3367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Reserve Now, online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470" y="2889504"/>
            <a:ext cx="3367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6B6B6B"/>
                </a:solidFill>
                <a:latin typeface="Arial"/>
              </a:rPr>
              <a:t>reserve in minutes, gate code on payment — no office visit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878" y="3259836"/>
            <a:ext cx="82296" cy="8229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470" y="3200400"/>
            <a:ext cx="3367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10% online discount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470" y="3401568"/>
            <a:ext cx="3367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6B6B6B"/>
                </a:solidFill>
                <a:latin typeface="Arial"/>
              </a:rPr>
              <a:t>a built-in reason to book (and pay) on the web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73878" y="37719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470" y="3712464"/>
            <a:ext cx="3367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4-step online move-in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470" y="3913632"/>
            <a:ext cx="3367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6B6B6B"/>
                </a:solidFill>
                <a:latin typeface="Arial"/>
              </a:rPr>
              <a:t>size → reserve → sign &amp; pay → gate code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73878" y="4283964"/>
            <a:ext cx="82296" cy="8229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8470" y="4224528"/>
            <a:ext cx="3367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Three countries, one site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470" y="4425696"/>
            <a:ext cx="3367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6B6B6B"/>
                </a:solidFill>
                <a:latin typeface="Arial"/>
              </a:rPr>
              <a:t>Barbados · Guyana · Suriname location picker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73878" y="5303520"/>
            <a:ext cx="35137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Arial"/>
              </a:rPr>
              <a:t>Designed so far: Homepage, Locations, FAQ, Contact, About. The online-reservation flow designs land early next week.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9692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6B6B6B"/>
                </a:solidFill>
                <a:latin typeface="Arial"/>
              </a:rPr>
              <a:t>Store All Barbados — Data Story · July 2026</a:t>
            </a:r>
            <a:r>
              <a:rPr sz="850" b="0">
                <a:solidFill>
                  <a:srgbClr val="6B6B6B"/>
                </a:solidFill>
                <a:latin typeface="Arial"/>
              </a:rPr>
              <a:t>   ·   Developer design mockups · client Figma share due tomorrow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6B6B6B"/>
                </a:solidFill>
                <a:latin typeface="Montserrat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384048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1" y="3657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220">
                <a:solidFill>
                  <a:srgbClr val="E30613"/>
                </a:solidFill>
                <a:latin typeface="Montserrat"/>
              </a:rPr>
              <a:t>ACT 03 · THE NEW WEBSITE —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1" y="57607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11111"/>
                </a:solidFill>
                <a:latin typeface="Montserrat"/>
              </a:rPr>
              <a:t>Design is nearly done; the reservation flow is in build.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1" y="111556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6B6B"/>
                </a:solidFill>
                <a:latin typeface="Arial"/>
              </a:rPr>
              <a:t>Developer status · week of 6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1185855" cy="10972"/>
          </a:xfrm>
          <a:prstGeom prst="rect">
            <a:avLst/>
          </a:prstGeom>
          <a:solidFill>
            <a:srgbClr val="E4E4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5483199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04088" y="1860804"/>
            <a:ext cx="82296" cy="8229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805940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90">
                <a:solidFill>
                  <a:srgbClr val="222222"/>
                </a:solidFill>
                <a:latin typeface="Montserrat"/>
              </a:rPr>
              <a:t>DESIGN TRACK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" y="2203703"/>
            <a:ext cx="914400" cy="192024"/>
          </a:xfrm>
          <a:prstGeom prst="roundRect">
            <a:avLst>
              <a:gd name="adj" fmla="val 50000"/>
            </a:avLst>
          </a:prstGeom>
          <a:solidFill>
            <a:srgbClr val="E4F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17420"/>
            <a:ext cx="914400" cy="1737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700" b="1" spc="40">
                <a:solidFill>
                  <a:srgbClr val="2F7D5B"/>
                </a:solidFill>
                <a:latin typeface="Montserrat"/>
              </a:rPr>
              <a:t>DONE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46504" y="2148840"/>
            <a:ext cx="403844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Core pages designed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46504" y="2350008"/>
            <a:ext cx="4038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Arial"/>
              </a:rPr>
              <a:t>Homepage · Locations · FAQ · Contact · About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" y="2752344"/>
            <a:ext cx="914400" cy="192024"/>
          </a:xfrm>
          <a:prstGeom prst="roundRect">
            <a:avLst>
              <a:gd name="adj" fmla="val 50000"/>
            </a:avLst>
          </a:prstGeom>
          <a:solidFill>
            <a:srgbClr val="FFF5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2766060"/>
            <a:ext cx="914400" cy="1737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700" b="1" spc="40">
                <a:solidFill>
                  <a:srgbClr val="B88620"/>
                </a:solidFill>
                <a:latin typeface="Montserrat"/>
              </a:rPr>
              <a:t>IN PROGRESS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46504" y="2697480"/>
            <a:ext cx="403844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Client Figma share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46504" y="2898648"/>
            <a:ext cx="4038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Arial"/>
              </a:rPr>
              <a:t>completed designs shared with us by tomorrow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4088" y="3300984"/>
            <a:ext cx="914400" cy="192024"/>
          </a:xfrm>
          <a:prstGeom prst="roundRect">
            <a:avLst>
              <a:gd name="adj" fmla="val 50000"/>
            </a:avLst>
          </a:prstGeom>
          <a:solidFill>
            <a:srgbClr val="FFF5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3314700"/>
            <a:ext cx="914400" cy="1737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700" b="1" spc="40">
                <a:solidFill>
                  <a:srgbClr val="B88620"/>
                </a:solidFill>
                <a:latin typeface="Montserrat"/>
              </a:rPr>
              <a:t>IN PROGRESS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46504" y="3246120"/>
            <a:ext cx="403844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Reservation-flow designs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46504" y="3447288"/>
            <a:ext cx="4038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Arial"/>
              </a:rPr>
              <a:t>early next week — being validated against the live API first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088" y="3849624"/>
            <a:ext cx="914400" cy="192024"/>
          </a:xfrm>
          <a:prstGeom prst="roundRect">
            <a:avLst>
              <a:gd name="adj" fmla="val 50000"/>
            </a:avLst>
          </a:prstGeom>
          <a:solidFill>
            <a:srgbClr val="FDEA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3863339"/>
            <a:ext cx="914400" cy="1737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700" b="1" spc="40">
                <a:solidFill>
                  <a:srgbClr val="B00010"/>
                </a:solidFill>
                <a:latin typeface="Montserrat"/>
              </a:rPr>
              <a:t>OURS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46504" y="3794759"/>
            <a:ext cx="403844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Internal design 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46504" y="3995928"/>
            <a:ext cx="4038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Arial"/>
              </a:rPr>
              <a:t>our team reviews mockups + reservation flow, returns feedback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5575" y="1645920"/>
            <a:ext cx="5483199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06743" y="1860804"/>
            <a:ext cx="82296" cy="8229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53047" y="1805940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90">
                <a:solidFill>
                  <a:srgbClr val="222222"/>
                </a:solidFill>
                <a:latin typeface="Montserrat"/>
              </a:rPr>
              <a:t>DEVELOPMENT TRACK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6743" y="2203703"/>
            <a:ext cx="914400" cy="192024"/>
          </a:xfrm>
          <a:prstGeom prst="roundRect">
            <a:avLst>
              <a:gd name="adj" fmla="val 50000"/>
            </a:avLst>
          </a:prstGeom>
          <a:solidFill>
            <a:srgbClr val="E4F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6743" y="2217420"/>
            <a:ext cx="914400" cy="1737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700" b="1" spc="40">
                <a:solidFill>
                  <a:srgbClr val="2F7D5B"/>
                </a:solidFill>
                <a:latin typeface="Montserrat"/>
              </a:rPr>
              <a:t>DONE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9159" y="2148840"/>
            <a:ext cx="403844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SiteLink API key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9159" y="2350008"/>
            <a:ext cx="4038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Arial"/>
              </a:rPr>
              <a:t>delivered — integration work unblocked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6743" y="2752344"/>
            <a:ext cx="914400" cy="192024"/>
          </a:xfrm>
          <a:prstGeom prst="roundRect">
            <a:avLst>
              <a:gd name="adj" fmla="val 50000"/>
            </a:avLst>
          </a:prstGeom>
          <a:solidFill>
            <a:srgbClr val="E4F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6743" y="2766060"/>
            <a:ext cx="914400" cy="1737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700" b="1" spc="40">
                <a:solidFill>
                  <a:srgbClr val="2F7D5B"/>
                </a:solidFill>
                <a:latin typeface="Montserrat"/>
              </a:rPr>
              <a:t>DONE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49159" y="2697480"/>
            <a:ext cx="403844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PlugnPay test account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49159" y="2898648"/>
            <a:ext cx="4038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Arial"/>
              </a:rPr>
              <a:t>secured from PlugnPay support — payments testable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6743" y="3300984"/>
            <a:ext cx="914400" cy="192024"/>
          </a:xfrm>
          <a:prstGeom prst="roundRect">
            <a:avLst>
              <a:gd name="adj" fmla="val 50000"/>
            </a:avLst>
          </a:prstGeom>
          <a:solidFill>
            <a:srgbClr val="FFF5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6743" y="3314700"/>
            <a:ext cx="914400" cy="1737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700" b="1" spc="40">
                <a:solidFill>
                  <a:srgbClr val="B88620"/>
                </a:solidFill>
                <a:latin typeface="Montserrat"/>
              </a:rPr>
              <a:t>IN PROGRESS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49159" y="3246120"/>
            <a:ext cx="403844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API integration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49159" y="3447288"/>
            <a:ext cx="4038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Arial"/>
              </a:rPr>
              <a:t>website functionality build underway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6743" y="3849624"/>
            <a:ext cx="914400" cy="19202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6743" y="3863339"/>
            <a:ext cx="914400" cy="1737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700" b="1" spc="40">
                <a:solidFill>
                  <a:srgbClr val="6B6B6B"/>
                </a:solidFill>
                <a:latin typeface="Montserrat"/>
              </a:rPr>
              <a:t>NEXT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49159" y="3794759"/>
            <a:ext cx="403844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Working reservation flow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49159" y="3995928"/>
            <a:ext cx="4038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Arial"/>
              </a:rPr>
              <a:t>basic end-to-end version by the end of next week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4709160"/>
            <a:ext cx="11185855" cy="969264"/>
          </a:xfrm>
          <a:prstGeom prst="roundRect">
            <a:avLst>
              <a:gd name="adj" fmla="val 45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4754880"/>
            <a:ext cx="50292" cy="877824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0664" y="4892040"/>
            <a:ext cx="107103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D9D9"/>
                </a:solidFill>
                <a:latin typeface="Montserrat"/>
              </a:rPr>
              <a:t>The ball comes to us this week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" y="5239512"/>
            <a:ext cx="1071036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E0E0E0"/>
                </a:solidFill>
                <a:latin typeface="Arial"/>
              </a:rPr>
              <a:t>The only step on our side of the net: review the Figma designs and the reservation flow, then return one consolidated round of feedback. The July 24 build date holds only if that feedback doesn't sit — book the internal review session now.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6473952"/>
            <a:ext cx="9692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6B6B6B"/>
                </a:solidFill>
                <a:latin typeface="Arial"/>
              </a:rPr>
              <a:t>Store All Barbados — Data Story · July 2026</a:t>
            </a:r>
            <a:r>
              <a:rPr sz="850" b="0">
                <a:solidFill>
                  <a:srgbClr val="6B6B6B"/>
                </a:solidFill>
                <a:latin typeface="Arial"/>
              </a:rPr>
              <a:t>   ·   Developer status email · design + development tracks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6B6B6B"/>
                </a:solidFill>
                <a:latin typeface="Montserrat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384048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1" y="3657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220">
                <a:solidFill>
                  <a:srgbClr val="E30613"/>
                </a:solidFill>
                <a:latin typeface="Montserrat"/>
              </a:rPr>
              <a:t>ACT 03 · THE NEW WEBSITE —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1" y="57607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11111"/>
                </a:solidFill>
                <a:latin typeface="Montserrat"/>
              </a:rPr>
              <a:t>Build done July 24. Live the week of August 10.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1" y="111556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6B6B"/>
                </a:solidFill>
                <a:latin typeface="Arial"/>
              </a:rPr>
              <a:t>Phase 1 = 8 weeks from end of May · on track · go-live moved off month-end to the second week of August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1185855" cy="10972"/>
          </a:xfrm>
          <a:prstGeom prst="rect">
            <a:avLst/>
          </a:prstGeom>
          <a:solidFill>
            <a:srgbClr val="E4E4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057400"/>
            <a:ext cx="10637215" cy="32004"/>
          </a:xfrm>
          <a:prstGeom prst="rect">
            <a:avLst/>
          </a:prstGeom>
          <a:solidFill>
            <a:srgbClr val="E4E4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979676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-552411" y="2286000"/>
            <a:ext cx="265930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1" spc="80">
                <a:solidFill>
                  <a:srgbClr val="6B6B6B"/>
                </a:solidFill>
                <a:latin typeface="Montserrat"/>
              </a:rPr>
              <a:t>THIS 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552411" y="2505456"/>
            <a:ext cx="26593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11111"/>
                </a:solidFill>
                <a:latin typeface="Arial"/>
              </a:rPr>
              <a:t>Figma review &amp;</a:t>
            </a:r>
          </a:p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11111"/>
                </a:solidFill>
                <a:latin typeface="Arial"/>
              </a:rPr>
              <a:t>reservation designs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5103" y="1979676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6891" y="2286000"/>
            <a:ext cx="265930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1" spc="80">
                <a:solidFill>
                  <a:srgbClr val="6B6B6B"/>
                </a:solidFill>
                <a:latin typeface="Montserrat"/>
              </a:rPr>
              <a:t>NEXT 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6891" y="2505456"/>
            <a:ext cx="26593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11111"/>
                </a:solidFill>
                <a:latin typeface="Arial"/>
              </a:rPr>
              <a:t>Working reservation</a:t>
            </a:r>
          </a:p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11111"/>
                </a:solidFill>
                <a:latin typeface="Arial"/>
              </a:rPr>
              <a:t>flow (end of week)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04407" y="1979676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6195" y="2286000"/>
            <a:ext cx="265930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1" spc="80">
                <a:solidFill>
                  <a:srgbClr val="6B6B6B"/>
                </a:solidFill>
                <a:latin typeface="Montserrat"/>
              </a:rPr>
              <a:t>JUL 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6195" y="2505456"/>
            <a:ext cx="26593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11111"/>
                </a:solidFill>
                <a:latin typeface="Arial"/>
              </a:rPr>
              <a:t>Phase 1 build</a:t>
            </a:r>
          </a:p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11111"/>
                </a:solidFill>
                <a:latin typeface="Arial"/>
              </a:rPr>
              <a:t>complete — on track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63711" y="1979676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25499" y="2286000"/>
            <a:ext cx="265930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1" spc="80">
                <a:solidFill>
                  <a:srgbClr val="6B6B6B"/>
                </a:solidFill>
                <a:latin typeface="Montserrat"/>
              </a:rPr>
              <a:t>EARLY AUG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5499" y="2505456"/>
            <a:ext cx="26593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11111"/>
                </a:solidFill>
                <a:latin typeface="Arial"/>
              </a:rPr>
              <a:t>Review, content</a:t>
            </a:r>
          </a:p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11111"/>
                </a:solidFill>
                <a:latin typeface="Arial"/>
              </a:rPr>
              <a:t>&amp; UAT window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277295" y="193395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85855" y="1888236"/>
            <a:ext cx="457200" cy="27432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4803" y="2286000"/>
            <a:ext cx="265930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1" spc="80">
                <a:solidFill>
                  <a:srgbClr val="E30613"/>
                </a:solidFill>
                <a:latin typeface="Montserrat"/>
              </a:rPr>
              <a:t>WEEK OF AUG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84803" y="2505456"/>
            <a:ext cx="26593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1">
                <a:solidFill>
                  <a:srgbClr val="111111"/>
                </a:solidFill>
                <a:latin typeface="Arial"/>
              </a:rPr>
              <a:t>GO-LIVE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273552"/>
            <a:ext cx="5483199" cy="1755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4088" y="3488436"/>
            <a:ext cx="82296" cy="8229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3433572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90">
                <a:solidFill>
                  <a:srgbClr val="222222"/>
                </a:solidFill>
                <a:latin typeface="Montserrat"/>
              </a:rPr>
              <a:t>PHASE 1 — WHAT GOES LIVE IN AUGUST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" y="3785616"/>
            <a:ext cx="5080863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B6B"/>
                </a:solidFill>
                <a:latin typeface="Arial"/>
              </a:rPr>
              <a:t>Redesigned homepage and ancillary pages (Locations, FAQ, About, Contact), </a:t>
            </a:r>
            <a:r>
              <a:rPr sz="1050" b="1">
                <a:solidFill>
                  <a:srgbClr val="111111"/>
                </a:solidFill>
                <a:latin typeface="Arial"/>
              </a:rPr>
              <a:t>live unit availability, online reservation and online payment</a:t>
            </a:r>
            <a:r>
              <a:rPr sz="1050" b="0">
                <a:solidFill>
                  <a:srgbClr val="6B6B6B"/>
                </a:solidFill>
                <a:latin typeface="Arial"/>
              </a:rPr>
              <a:t> — the booking funnel this deck's Act 03 called for, with a 10% book-online incentive.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5575" y="3273552"/>
            <a:ext cx="5483199" cy="1755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6743" y="3488436"/>
            <a:ext cx="82296" cy="8229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53047" y="3433572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90">
                <a:solidFill>
                  <a:srgbClr val="222222"/>
                </a:solidFill>
                <a:latin typeface="Montserrat"/>
              </a:rPr>
              <a:t>PHASE 2 — STARTS AFTER PHASE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6743" y="3785616"/>
            <a:ext cx="5080863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11111"/>
                </a:solidFill>
                <a:latin typeface="Arial"/>
              </a:rPr>
              <a:t>Account management</a:t>
            </a:r>
            <a:r>
              <a:rPr sz="1050" b="0">
                <a:solidFill>
                  <a:srgbClr val="6B6B6B"/>
                </a:solidFill>
                <a:latin typeface="Arial"/>
              </a:rPr>
              <a:t> — tenant self-service on top of the booking funnel. Some of it may be ready by go-live. </a:t>
            </a:r>
            <a:r>
              <a:rPr sz="1050" b="1">
                <a:solidFill>
                  <a:srgbClr val="B00010"/>
                </a:solidFill>
                <a:latin typeface="Arial"/>
              </a:rPr>
              <a:t>Decision for us now:</a:t>
            </a:r>
            <a:r>
              <a:rPr sz="1050" b="0">
                <a:solidFill>
                  <a:srgbClr val="6B6B6B"/>
                </a:solidFill>
                <a:latin typeface="Arial"/>
              </a:rPr>
              <a:t> the developer asked which Phase 2 pages to build first — tell them this week.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9692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6B6B6B"/>
                </a:solidFill>
                <a:latin typeface="Arial"/>
              </a:rPr>
              <a:t>Store All Barbados — Data Story · July 2026</a:t>
            </a:r>
            <a:r>
              <a:rPr sz="850" b="0">
                <a:solidFill>
                  <a:srgbClr val="6B6B6B"/>
                </a:solidFill>
                <a:latin typeface="Arial"/>
              </a:rPr>
              <a:t>   ·   Developer phase breakdown (Google Doc) + status email · timeline as of 6 July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6B6B6B"/>
                </a:solidFill>
                <a:latin typeface="Montserra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384048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1" y="3657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220">
                <a:solidFill>
                  <a:srgbClr val="E30613"/>
                </a:solidFill>
                <a:latin typeface="Montserrat"/>
              </a:rPr>
              <a:t>ACT 04 · CUSTOMER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1" y="57607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11111"/>
                </a:solidFill>
                <a:latin typeface="Montserrat"/>
              </a:rPr>
              <a:t>Here for location — never for price.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1" y="111556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6B6B"/>
                </a:solidFill>
                <a:latin typeface="Arial"/>
              </a:rPr>
              <a:t>Local households in transition · SiteLink marketing summary · 978 active tenants, all sites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1185855" cy="10972"/>
          </a:xfrm>
          <a:prstGeom prst="rect">
            <a:avLst/>
          </a:prstGeom>
          <a:solidFill>
            <a:srgbClr val="E4E4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CHOSE US FOR LOCATION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30613"/>
                </a:solidFill>
                <a:latin typeface="Montserrat"/>
              </a:rPr>
              <a:t>67</a:t>
            </a:r>
            <a:r>
              <a:rPr sz="1400" b="0">
                <a:solidFill>
                  <a:srgbClr val="6B6B6B"/>
                </a:solidFill>
                <a:latin typeface="Montserrat"/>
              </a:rPr>
              <a:t>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657 tenants — versus 2 (0.2%) for price. Convenience, not cost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5103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0551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RESIDENTIAL CUSTOMERS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0551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11111"/>
                </a:solidFill>
                <a:latin typeface="Montserrat"/>
              </a:rPr>
              <a:t>76</a:t>
            </a:r>
            <a:r>
              <a:rPr sz="1400" b="0">
                <a:solidFill>
                  <a:srgbClr val="6B6B6B"/>
                </a:solidFill>
                <a:latin typeface="Montserrat"/>
              </a:rPr>
              <a:t>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0551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747 households vs 231 commercial accounts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2735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STORE FURNITURE / HOUSEHOLD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2735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11111"/>
                </a:solidFill>
                <a:latin typeface="Montserrat"/>
              </a:rPr>
              <a:t>64</a:t>
            </a:r>
            <a:r>
              <a:rPr sz="1400" b="0">
                <a:solidFill>
                  <a:srgbClr val="6B6B6B"/>
                </a:solidFill>
                <a:latin typeface="Montserrat"/>
              </a:rPr>
              <a:t>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2735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629 tenants — life-event storage dominates the mix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29471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4919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LIVE WITHIN ~5 MILES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4919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11111"/>
                </a:solidFill>
                <a:latin typeface="Montserrat"/>
              </a:rPr>
              <a:t>43</a:t>
            </a:r>
            <a:r>
              <a:rPr sz="1400" b="0">
                <a:solidFill>
                  <a:srgbClr val="6B6B6B"/>
                </a:solidFill>
                <a:latin typeface="Montserrat"/>
              </a:rPr>
              <a:t>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4919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and 13% overseas — the diaspora, concentrated at Central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310128"/>
            <a:ext cx="544068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04088" y="35250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392" y="3470148"/>
            <a:ext cx="4892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90">
                <a:solidFill>
                  <a:srgbClr val="222222"/>
                </a:solidFill>
                <a:latin typeface="Montserrat"/>
              </a:rPr>
              <a:t>WHY THEY STORE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826763"/>
            <a:ext cx="1417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Excess / declutter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21992" y="3858768"/>
            <a:ext cx="2450592" cy="12801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221992" y="3858768"/>
            <a:ext cx="2450592" cy="128016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00600" y="3826763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338 · 35%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169663"/>
            <a:ext cx="1417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Moving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221992" y="4201668"/>
            <a:ext cx="2450592" cy="12801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221992" y="4201668"/>
            <a:ext cx="1805317" cy="128016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0600" y="4169663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249 · 26%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512564"/>
            <a:ext cx="1417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Business needs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221992" y="4544568"/>
            <a:ext cx="2450592" cy="12801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221992" y="4544568"/>
            <a:ext cx="1674812" cy="128016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00600" y="4512564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231 · 24%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4855464"/>
            <a:ext cx="1417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Renovating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221992" y="4887468"/>
            <a:ext cx="2450592" cy="12801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221992" y="4887468"/>
            <a:ext cx="384264" cy="128016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00600" y="4855464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53 · 6%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198364"/>
            <a:ext cx="1417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Other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221992" y="5230368"/>
            <a:ext cx="2450592" cy="12801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221992" y="5230368"/>
            <a:ext cx="638023" cy="128016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00600" y="5198364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88 · 9%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26480" y="3310128"/>
            <a:ext cx="28346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27648" y="35250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73952" y="3470148"/>
            <a:ext cx="2286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90">
                <a:solidFill>
                  <a:srgbClr val="222222"/>
                </a:solidFill>
                <a:latin typeface="Montserrat"/>
              </a:rPr>
              <a:t>WHY THEY CHOSE US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36792" y="3826763"/>
            <a:ext cx="960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11111"/>
                </a:solidFill>
                <a:latin typeface="Arial"/>
              </a:rPr>
              <a:t>Location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70063" y="3858768"/>
            <a:ext cx="905256" cy="1188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7370063" y="3858768"/>
            <a:ext cx="905256" cy="118872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03336" y="3826763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69%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36792" y="4169663"/>
            <a:ext cx="960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11111"/>
                </a:solidFill>
                <a:latin typeface="Arial"/>
              </a:rPr>
              <a:t>Features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370063" y="4201668"/>
            <a:ext cx="905256" cy="1188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370063" y="4201668"/>
            <a:ext cx="246637" cy="118872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03336" y="4169663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19%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36792" y="4512564"/>
            <a:ext cx="960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11111"/>
                </a:solidFill>
                <a:latin typeface="Arial"/>
              </a:rPr>
              <a:t>Management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70063" y="4544568"/>
            <a:ext cx="905256" cy="1188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7370063" y="4544568"/>
            <a:ext cx="106095" cy="118872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403336" y="4512564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8%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36792" y="4855464"/>
            <a:ext cx="960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11111"/>
                </a:solidFill>
                <a:latin typeface="Arial"/>
              </a:rPr>
              <a:t>Other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70063" y="4887468"/>
            <a:ext cx="905256" cy="1188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370063" y="4887468"/>
            <a:ext cx="60625" cy="118872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403336" y="4855464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5%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36792" y="5198364"/>
            <a:ext cx="960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11111"/>
                </a:solidFill>
                <a:latin typeface="Arial"/>
              </a:rPr>
              <a:t>Price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370063" y="5230368"/>
            <a:ext cx="905256" cy="1188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370063" y="5230368"/>
            <a:ext cx="50292" cy="118872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403336" y="5198364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0%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144000" y="3310128"/>
            <a:ext cx="2544775" cy="2331720"/>
          </a:xfrm>
          <a:prstGeom prst="roundRect">
            <a:avLst>
              <a:gd name="adj" fmla="val 45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44000" y="3355848"/>
            <a:ext cx="50292" cy="2240279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381744" y="3493008"/>
            <a:ext cx="20692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D9D9"/>
                </a:solidFill>
                <a:latin typeface="Montserrat"/>
              </a:rPr>
              <a:t>Back to Act 01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381744" y="3840480"/>
            <a:ext cx="2069287" cy="16550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E0E0E0"/>
                </a:solidFill>
                <a:latin typeface="Arial"/>
              </a:rPr>
              <a:t>Demand is local, residential and location-led — people store because life changed, near where they live.</a:t>
            </a:r>
          </a:p>
          <a:p>
            <a:pPr algn="l">
              <a:lnSpc>
                <a:spcPct val="118000"/>
              </a:lnSpc>
            </a:pPr>
            <a:r>
              <a:rPr sz="1100" b="0">
                <a:solidFill>
                  <a:srgbClr val="E0E0E0"/>
                </a:solidFill>
                <a:latin typeface="Arial"/>
              </a:rPr>
              <a:t>So the growth lever is </a:t>
            </a:r>
            <a:r>
              <a:rPr sz="1100" b="1">
                <a:solidFill>
                  <a:srgbClr val="FFFFFF"/>
                </a:solidFill>
                <a:latin typeface="Arial"/>
              </a:rPr>
              <a:t>proximity and visibility</a:t>
            </a:r>
            <a:r>
              <a:rPr sz="1100" b="0">
                <a:solidFill>
                  <a:srgbClr val="E0E0E0"/>
                </a:solidFill>
                <a:latin typeface="Arial"/>
              </a:rPr>
              <a:t>, not discounting — and it is exactly why </a:t>
            </a:r>
            <a:r>
              <a:rPr sz="1100" b="1">
                <a:solidFill>
                  <a:srgbClr val="FFFFFF"/>
                </a:solidFill>
                <a:latin typeface="Arial"/>
              </a:rPr>
              <a:t>new supply in the right catchment</a:t>
            </a:r>
            <a:r>
              <a:rPr sz="1100" b="0">
                <a:solidFill>
                  <a:srgbClr val="E0E0E0"/>
                </a:solidFill>
                <a:latin typeface="Arial"/>
              </a:rPr>
              <a:t> will fill.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920" y="6473952"/>
            <a:ext cx="9692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6B6B6B"/>
                </a:solidFill>
                <a:latin typeface="Arial"/>
              </a:rPr>
              <a:t>Store All Barbados — Data Story · July 2026</a:t>
            </a:r>
            <a:r>
              <a:rPr sz="850" b="0">
                <a:solidFill>
                  <a:srgbClr val="6B6B6B"/>
                </a:solidFill>
                <a:latin typeface="Arial"/>
              </a:rPr>
              <a:t>   ·   SiteLink marketing summary · shares of tenants with the field recorded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6B6B6B"/>
                </a:solidFill>
                <a:latin typeface="Montserrat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0" y="0"/>
            <a:ext cx="4517136" cy="64008"/>
          </a:xfrm>
          <a:prstGeom prst="rect">
            <a:avLst/>
          </a:prstGeom>
          <a:solidFill>
            <a:srgbClr val="B0001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260">
                <a:solidFill>
                  <a:srgbClr val="F6A3A3"/>
                </a:solidFill>
                <a:latin typeface="Montserrat"/>
              </a:rPr>
              <a:t>THE STORY, IN ONE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11247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ontserrat"/>
              </a:rPr>
              <a:t>What the data asks of 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81328"/>
            <a:ext cx="11185855" cy="1060704"/>
          </a:xfrm>
          <a:prstGeom prst="roundRect">
            <a:avLst>
              <a:gd name="adj" fmla="val 6000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36192"/>
            <a:ext cx="50292" cy="950976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22376" y="1810512"/>
            <a:ext cx="384048" cy="384048"/>
          </a:xfrm>
          <a:prstGeom prst="ellipse">
            <a:avLst/>
          </a:prstGeom>
          <a:solidFill>
            <a:srgbClr val="1F1F1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" y="1627632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FFFFF"/>
                </a:solidFill>
                <a:latin typeface="Montserrat"/>
              </a:rPr>
              <a:t>Secure new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9344"/>
            <a:ext cx="5394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>
                <a:solidFill>
                  <a:srgbClr val="C8C8C8"/>
                </a:solidFill>
                <a:latin typeface="Arial"/>
              </a:rPr>
              <a:t>Sold out at 99.4% with 361 inquiries chasing 6 units. Volume growth is gone until we add space — expand Lears or commit to site #4.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21240" y="1856232"/>
            <a:ext cx="1719072" cy="329184"/>
          </a:xfrm>
          <a:prstGeom prst="roundRect">
            <a:avLst>
              <a:gd name="adj" fmla="val 50000"/>
            </a:avLst>
          </a:prstGeom>
          <a:solidFill>
            <a:srgbClr val="2A1214"/>
          </a:solidFill>
          <a:ln w="9525">
            <a:solidFill>
              <a:srgbClr val="B0001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21240" y="1856232"/>
            <a:ext cx="1719072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750" b="1" spc="40">
                <a:solidFill>
                  <a:srgbClr val="F6A3A3"/>
                </a:solidFill>
                <a:latin typeface="Montserrat"/>
              </a:rPr>
              <a:t>EXPANSION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670048"/>
            <a:ext cx="11185855" cy="1060704"/>
          </a:xfrm>
          <a:prstGeom prst="roundRect">
            <a:avLst>
              <a:gd name="adj" fmla="val 6000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724912"/>
            <a:ext cx="50292" cy="950976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" y="2999232"/>
            <a:ext cx="384048" cy="384048"/>
          </a:xfrm>
          <a:prstGeom prst="ellipse">
            <a:avLst/>
          </a:prstGeom>
          <a:solidFill>
            <a:srgbClr val="1F1F1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7592" y="2816352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FFFFF"/>
                </a:solidFill>
                <a:latin typeface="Montserrat"/>
              </a:rPr>
              <a:t>Convert the one-click 425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2798064"/>
            <a:ext cx="5394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>
                <a:solidFill>
                  <a:srgbClr val="C8C8C8"/>
                </a:solidFill>
                <a:latin typeface="Arial"/>
              </a:rPr>
              <a:t>Autopay is stuck at 28% (+0.6pp in 6 months). 425 units already pay digitally but manually — run the recurring-billing switch campaign.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21240" y="3044952"/>
            <a:ext cx="1719072" cy="329184"/>
          </a:xfrm>
          <a:prstGeom prst="roundRect">
            <a:avLst>
              <a:gd name="adj" fmla="val 50000"/>
            </a:avLst>
          </a:prstGeom>
          <a:solidFill>
            <a:srgbClr val="2A1214"/>
          </a:solidFill>
          <a:ln w="9525">
            <a:solidFill>
              <a:srgbClr val="B0001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3044952"/>
            <a:ext cx="1719072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750" b="1" spc="40">
                <a:solidFill>
                  <a:srgbClr val="F6A3A3"/>
                </a:solidFill>
                <a:latin typeface="Montserrat"/>
              </a:rPr>
              <a:t>THIS QUARTER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58768"/>
            <a:ext cx="11185855" cy="1060704"/>
          </a:xfrm>
          <a:prstGeom prst="roundRect">
            <a:avLst>
              <a:gd name="adj" fmla="val 6000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913631"/>
            <a:ext cx="50292" cy="950976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376" y="4187952"/>
            <a:ext cx="384048" cy="384048"/>
          </a:xfrm>
          <a:prstGeom prst="ellipse">
            <a:avLst/>
          </a:prstGeom>
          <a:solidFill>
            <a:srgbClr val="1F1F1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07592" y="4005072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FFFFF"/>
                </a:solidFill>
                <a:latin typeface="Montserrat"/>
              </a:rPr>
              <a:t>Pay for word of mouth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3986783"/>
            <a:ext cx="5394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>
                <a:solidFill>
                  <a:srgbClr val="C8C8C8"/>
                </a:solidFill>
                <a:latin typeface="Arial"/>
              </a:rPr>
              <a:t>Referrals + returning tenants: 39% of tenants, 41% of $12.5M lifetime value, $14.6k per referred tenant. Launch referral credits &amp; move-out win-back.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21240" y="4233672"/>
            <a:ext cx="1719072" cy="329184"/>
          </a:xfrm>
          <a:prstGeom prst="roundRect">
            <a:avLst>
              <a:gd name="adj" fmla="val 50000"/>
            </a:avLst>
          </a:prstGeom>
          <a:solidFill>
            <a:srgbClr val="2A1214"/>
          </a:solidFill>
          <a:ln w="9525">
            <a:solidFill>
              <a:srgbClr val="B0001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21240" y="4233672"/>
            <a:ext cx="1719072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750" b="1" spc="40">
                <a:solidFill>
                  <a:srgbClr val="F6A3A3"/>
                </a:solidFill>
                <a:latin typeface="Montserrat"/>
              </a:rPr>
              <a:t>REFERRAL CREDIT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47488"/>
            <a:ext cx="11185855" cy="1060704"/>
          </a:xfrm>
          <a:prstGeom prst="roundRect">
            <a:avLst>
              <a:gd name="adj" fmla="val 6000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5102351"/>
            <a:ext cx="50292" cy="950976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22376" y="5376672"/>
            <a:ext cx="384048" cy="384048"/>
          </a:xfrm>
          <a:prstGeom prst="ellipse">
            <a:avLst/>
          </a:prstGeom>
          <a:solidFill>
            <a:srgbClr val="1F1F1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7592" y="5193792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FFFFF"/>
                </a:solidFill>
                <a:latin typeface="Montserrat"/>
              </a:rPr>
              <a:t>Land the new website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5175503"/>
            <a:ext cx="5394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>
                <a:solidFill>
                  <a:srgbClr val="C8C8C8"/>
                </a:solidFill>
                <a:latin typeface="Arial"/>
              </a:rPr>
              <a:t>The rebuild is in flight: mockups in, reservation flow next week, Phase 1 build done Jul 24. Review designs fast and pick Phase 2 priorities.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921240" y="5422392"/>
            <a:ext cx="1719072" cy="329184"/>
          </a:xfrm>
          <a:prstGeom prst="roundRect">
            <a:avLst>
              <a:gd name="adj" fmla="val 50000"/>
            </a:avLst>
          </a:prstGeom>
          <a:solidFill>
            <a:srgbClr val="2A1214"/>
          </a:solidFill>
          <a:ln w="9525">
            <a:solidFill>
              <a:srgbClr val="B0001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21240" y="5422392"/>
            <a:ext cx="1719072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750" b="1" spc="40">
                <a:solidFill>
                  <a:srgbClr val="F6A3A3"/>
                </a:solidFill>
                <a:latin typeface="Montserrat"/>
              </a:rPr>
              <a:t>LIVE WK OF AUG 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9692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A8A8A"/>
                </a:solidFill>
                <a:latin typeface="Arial"/>
              </a:rPr>
              <a:t>Store All Barbados — Data Story · July 2026</a:t>
            </a:r>
            <a:r>
              <a:rPr sz="850" b="0">
                <a:solidFill>
                  <a:srgbClr val="8A8A8A"/>
                </a:solidFill>
                <a:latin typeface="Arial"/>
              </a:rPr>
              <a:t>   ·   Full detail in the Data Dashboard — occupancy, payments, acquisition, lead funnel &amp; profile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8A8A8A"/>
                </a:solidFill>
                <a:latin typeface="Montserrat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