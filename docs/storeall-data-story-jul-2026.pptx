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17136" cy="64008"/>
          </a:xfrm>
          <a:prstGeom prst="rect">
            <a:avLst/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300">
                <a:solidFill>
                  <a:srgbClr val="F6A3A3"/>
                </a:solidFill>
                <a:latin typeface="Montserrat"/>
              </a:rPr>
              <a:t>STORE ALL BARBADOS  ·  PERFORMANCE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247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>
                <a:solidFill>
                  <a:srgbClr val="FFFFFF"/>
                </a:solidFill>
                <a:latin typeface="Montserrat"/>
              </a:rPr>
              <a:t>Full house. Digital money.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E30613"/>
                </a:solidFill>
                <a:latin typeface="Montserrat"/>
              </a:rPr>
              <a:t>Word of mouth</a:t>
            </a:r>
            <a:r>
              <a:rPr sz="4200" b="1">
                <a:solidFill>
                  <a:srgbClr val="FFFFFF"/>
                </a:solidFill>
                <a:latin typeface="Montserrat"/>
              </a:rPr>
              <a:t> pays the rent.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8892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D8D8"/>
                </a:solidFill>
                <a:latin typeface="Arial"/>
              </a:rPr>
              <a:t>What the June 2026 data says about where Store All grows next — told in four acts, from the dashboard: occupancy, payments, acquisition and the customer.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OCCUPANCY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We are sold out — 6 units left across 985.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9675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2555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555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PAYMENTS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2555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86% of payers are already digital; autopay is stuck.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9311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311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Referrals carry the value; the phone carries the volume.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43187" y="3977639"/>
            <a:ext cx="2645587" cy="1572768"/>
          </a:xfrm>
          <a:prstGeom prst="roundRect">
            <a:avLst>
              <a:gd name="adj" fmla="val 7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26067" y="4160520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067" y="4645152"/>
            <a:ext cx="22798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120">
                <a:solidFill>
                  <a:srgbClr val="FFFFFF"/>
                </a:solidFill>
                <a:latin typeface="Montserrat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067" y="4919472"/>
            <a:ext cx="22798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B8B8B8"/>
                </a:solidFill>
                <a:latin typeface="Arial"/>
              </a:rPr>
              <a:t>Local, residential, location-led — never price-led.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97880"/>
            <a:ext cx="11185855" cy="10972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0167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9A9A"/>
                </a:solidFill>
                <a:latin typeface="Arial"/>
              </a:rPr>
              <a:t>Central · South · Lears   —   SiteLink rent roll, receipts, inquiry tracking &amp; marketing summary · June 2026 month-end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A8A8A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8A8A8A"/>
                </a:solidFill>
                <a:latin typeface="Arial"/>
              </a:rPr>
              <a:t>   ·   Title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8A8A8A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01 · OCCUPANCY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We are sold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June 2026 month-end · 976 of 982 rentable units occupied across three sites (99.4%)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RENTABLE 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99.4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976 of 982 rentable units filled — physical occupancy 99.1% of all 985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UNITS LEFT TO SELL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vacant rentable units in the whole portfolio: 4 Central · 1 South · 1 Lears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MONTHLY RENT ROLL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$274</a:t>
            </a:r>
            <a:r>
              <a:rPr sz="1400" b="0">
                <a:solidFill>
                  <a:srgbClr val="6B6B6B"/>
                </a:solidFill>
                <a:latin typeface="Montserrat"/>
              </a:rPr>
              <a:t>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96.6% of the $283k gross potential — near-zero discounting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NET ABSORPTION · JUNE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+21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34 move-ins vs 13 move-outs — vacated units refill immediately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67208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OCCUPANCY BY SITE — SHARE OF RENTABLE 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45052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Central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64792" y="387705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764792" y="3877056"/>
            <a:ext cx="4332907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845052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05993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457 of 461 rentable · 4 vacant — The Pine, St. Michael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393692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South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64792" y="442569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764792" y="4425696"/>
            <a:ext cx="4354338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4393692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" y="460857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264 of 265 rentable · 1 vacant — Gibbons, Christ Church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42331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111"/>
                </a:solidFill>
                <a:latin typeface="Arial"/>
              </a:rPr>
              <a:t>Lears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64792" y="4974336"/>
            <a:ext cx="4370832" cy="146304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64792" y="4974336"/>
            <a:ext cx="4353758" cy="146304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4942331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99.6%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4792" y="51572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Arial"/>
              </a:rPr>
              <a:t>255 of 256 rentable · 1 vacant — 14 more units out of service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6640" y="3310128"/>
            <a:ext cx="428213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44383" y="3493008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Churn at the ceiling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44383" y="3840480"/>
            <a:ext cx="380664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 small negative month is tenants swapping, not demand falling: every unit vacated in June was re-let within the month. Economic occupancy of </a:t>
            </a:r>
            <a:r>
              <a:rPr sz="1100" b="1">
                <a:solidFill>
                  <a:srgbClr val="FFFFFF"/>
                </a:solidFill>
                <a:latin typeface="Arial"/>
              </a:rPr>
              <a:t>96.6%</a:t>
            </a:r>
            <a:r>
              <a:rPr sz="1100" b="0">
                <a:solidFill>
                  <a:srgbClr val="E0E0E0"/>
                </a:solidFill>
                <a:latin typeface="Arial"/>
              </a:rPr>
              <a:t> means we collect close to full list price — we are not buying this occupancy with discounts.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The portfolio has been at this ceiling all year. That is the story of this deck: </a:t>
            </a:r>
            <a:r>
              <a:rPr sz="1100" b="1">
                <a:solidFill>
                  <a:srgbClr val="FFFFFF"/>
                </a:solidFill>
                <a:latin typeface="Arial"/>
              </a:rPr>
              <a:t>the constraint is no longer demand — it is 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rent roll · June month-end; Lears position as of 2 July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01 · OCCUPANCY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Demand keeps arriving. Supply doesn't.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inquiry tracking · leads placed January–June 2026, all three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6720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SIX MONTHS OF DEMAND VS WHAT WE CAN SELL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85416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Inquiries · Jan–Jun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212848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71800" y="2212848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671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222222"/>
                </a:solidFill>
                <a:latin typeface="Montserrat"/>
              </a:rPr>
              <a:t>361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Converted to move-ins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688336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71800" y="2688336"/>
            <a:ext cx="1258376" cy="219456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222222"/>
                </a:solidFill>
                <a:latin typeface="Montserrat"/>
              </a:rPr>
              <a:t>138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36392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Rentable units vacant today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163824"/>
            <a:ext cx="3291840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71800" y="3163824"/>
            <a:ext cx="64008" cy="21945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11810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E30613"/>
                </a:solidFill>
                <a:latin typeface="Montserrat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630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361 inquiries chased 6 available units.</a:t>
            </a:r>
            <a:r>
              <a:rPr sz="1050" b="0">
                <a:solidFill>
                  <a:srgbClr val="6B6B6B"/>
                </a:solidFill>
                <a:latin typeface="Arial"/>
              </a:rPr>
              <a:t> Lears — the newest site — absorbed +15 net units in June alone and is now effectively full. The 38% inquiry→move-in rate is demand we largely turn away.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645920"/>
            <a:ext cx="4282135" cy="265176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1691640"/>
            <a:ext cx="50292" cy="2560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44383" y="1828800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We need supply.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176272"/>
            <a:ext cx="3806647" cy="1975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Growth is capped by capacity, not by the market. At 99.4% full, revenue can only move through </a:t>
            </a:r>
            <a:r>
              <a:rPr sz="1100" b="1">
                <a:solidFill>
                  <a:srgbClr val="FFFFFF"/>
                </a:solidFill>
                <a:latin typeface="Arial"/>
              </a:rPr>
              <a:t>rate</a:t>
            </a:r>
            <a:r>
              <a:rPr sz="1100" b="0">
                <a:solidFill>
                  <a:srgbClr val="E0E0E0"/>
                </a:solidFill>
                <a:latin typeface="Arial"/>
              </a:rPr>
              <a:t> — volume is gone until we add space.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Every act that follows — payments, referrals, the website — makes the machine more efficient. But only </a:t>
            </a:r>
            <a:r>
              <a:rPr sz="1100" b="1">
                <a:solidFill>
                  <a:srgbClr val="FFFFFF"/>
                </a:solidFill>
                <a:latin typeface="Arial"/>
              </a:rPr>
              <a:t>new units</a:t>
            </a:r>
            <a:r>
              <a:rPr sz="1100" b="0">
                <a:solidFill>
                  <a:srgbClr val="E0E0E0"/>
                </a:solidFill>
                <a:latin typeface="Arial"/>
              </a:rPr>
              <a:t> let it grow. Expansion is decision #1.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17136"/>
            <a:ext cx="11185855" cy="932688"/>
          </a:xfrm>
          <a:prstGeom prst="roundRect">
            <a:avLst>
              <a:gd name="adj" fmla="val 9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72584"/>
            <a:ext cx="1060704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D9D9"/>
                </a:solidFill>
                <a:latin typeface="Montserrat"/>
              </a:rPr>
              <a:t>The ask:   </a:t>
            </a:r>
            <a:r>
              <a:rPr sz="1800" b="1">
                <a:solidFill>
                  <a:srgbClr val="FFFFFF"/>
                </a:solidFill>
                <a:latin typeface="Montserrat"/>
              </a:rPr>
              <a:t>commit to a supply decision — expand Lears or open site #4.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084064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D9D9"/>
                </a:solidFill>
                <a:latin typeface="Arial"/>
              </a:rPr>
              <a:t>Where the catchment data says it will fill is Act 04.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inquiry tracking Jan–Jun 2026 · rent roll June month-end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02 ·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The money is already digital.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June 2026 receipts, all sites · bank-app transfers reclassified July 2026 — they were never cash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PAYERS WHO PAY ELECTRONICALLY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86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699 of 812 units paying in June — autopay, bank app, website or card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REVENUE COLLECTED DIGITALLY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82.6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$279k of $338k June receipts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BIGGEST SINGLE MONEY 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$106</a:t>
            </a:r>
            <a:r>
              <a:rPr sz="1400" b="0">
                <a:solidFill>
                  <a:srgbClr val="6B6B6B"/>
                </a:solidFill>
                <a:latin typeface="Montserrat"/>
              </a:rPr>
              <a:t>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CIBC bank-app transfers — 31% of collections, ahead of autopay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STILL PAYING CASH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71</a:t>
            </a:r>
            <a:r>
              <a:rPr sz="1400" b="0">
                <a:solidFill>
                  <a:srgbClr val="6B6B6B"/>
                </a:solidFill>
                <a:latin typeface="Montserrat"/>
              </a:rPr>
              <a:t> units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just 9% of collections ($30k) — cash is the tail, not the norm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11185855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HOW THE 812 JUNE PAYERS PAID — UNITS BY TIER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877056"/>
            <a:ext cx="3594657" cy="457200"/>
          </a:xfrm>
          <a:prstGeom prst="roundRect">
            <a:avLst>
              <a:gd name="adj" fmla="val 18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0500"/>
            <a:ext cx="3594657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34%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1780" y="3877056"/>
            <a:ext cx="4506328" cy="457200"/>
          </a:xfrm>
          <a:prstGeom prst="roundRect">
            <a:avLst>
              <a:gd name="adj" fmla="val 18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1780" y="4000500"/>
            <a:ext cx="4506328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42%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3712" y="3877056"/>
            <a:ext cx="1057832" cy="457200"/>
          </a:xfrm>
          <a:prstGeom prst="roundRect">
            <a:avLst>
              <a:gd name="adj" fmla="val 18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83712" y="4000500"/>
            <a:ext cx="1057832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10%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7148" y="3877056"/>
            <a:ext cx="1467423" cy="457200"/>
          </a:xfrm>
          <a:prstGeom prst="roundRect">
            <a:avLst>
              <a:gd name="adj" fmla="val 18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7148" y="4000500"/>
            <a:ext cx="1467423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22222"/>
                </a:solidFill>
                <a:latin typeface="Montserrat"/>
              </a:rPr>
              <a:t>14%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Autopay (Plug &amp; Pay)</a:t>
            </a:r>
            <a:r>
              <a:rPr sz="900" b="0">
                <a:solidFill>
                  <a:srgbClr val="6B6B6B"/>
                </a:solidFill>
                <a:latin typeface="Arial"/>
              </a:rPr>
              <a:t>  274 units · $89k/mo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13683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96563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Online / bank app</a:t>
            </a:r>
            <a:r>
              <a:rPr sz="900" b="0">
                <a:solidFill>
                  <a:srgbClr val="6B6B6B"/>
                </a:solidFill>
                <a:latin typeface="Arial"/>
              </a:rPr>
              <a:t>  343 units · $149k/mo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5847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8727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Manual card</a:t>
            </a:r>
            <a:r>
              <a:rPr sz="900" b="0">
                <a:solidFill>
                  <a:srgbClr val="6B6B6B"/>
                </a:solidFill>
                <a:latin typeface="Arial"/>
              </a:rPr>
              <a:t>  82 units · $41k/mo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011" y="45125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0891" y="4466844"/>
            <a:ext cx="2462707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Arial"/>
              </a:rPr>
              <a:t>Cash / cheque</a:t>
            </a:r>
            <a:r>
              <a:rPr sz="900" b="0">
                <a:solidFill>
                  <a:srgbClr val="6B6B6B"/>
                </a:solidFill>
                <a:latin typeface="Arial"/>
              </a:rPr>
              <a:t>  113 units · $59k/mo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82896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11111"/>
                </a:solidFill>
                <a:latin typeface="Arial"/>
              </a:rPr>
              <a:t>What changed: </a:t>
            </a:r>
            <a:r>
              <a:rPr sz="1050" b="0">
                <a:solidFill>
                  <a:srgbClr val="6B6B6B"/>
                </a:solidFill>
                <a:latin typeface="Arial"/>
              </a:rPr>
              <a:t>July's reclassification revealed that “Money Order” and “Internet” receipts were CIBC and Republic bank-app transfers, and “Bank Transfer” was the website's Pay Now. The cash-heavy picture was a labelling illusion — customers moved to digital years ago. The gap left is not </a:t>
            </a:r>
            <a:r>
              <a:rPr sz="1050" b="0" i="1">
                <a:solidFill>
                  <a:srgbClr val="6B6B6B"/>
                </a:solidFill>
                <a:latin typeface="Arial"/>
              </a:rPr>
              <a:t>digital vs cash</a:t>
            </a:r>
            <a:r>
              <a:rPr sz="1050" b="0">
                <a:solidFill>
                  <a:srgbClr val="6B6B6B"/>
                </a:solidFill>
                <a:latin typeface="Arial"/>
              </a:rPr>
              <a:t> — it is </a:t>
            </a:r>
            <a:r>
              <a:rPr sz="1050" b="1">
                <a:solidFill>
                  <a:srgbClr val="E30613"/>
                </a:solidFill>
                <a:latin typeface="Arial"/>
              </a:rPr>
              <a:t>automatic vs manual</a:t>
            </a:r>
            <a:r>
              <a:rPr sz="1050" b="0">
                <a:solidFill>
                  <a:srgbClr val="6B6B6B"/>
                </a:solidFill>
                <a:latin typeface="Arial"/>
              </a:rPr>
              <a:t>, which is the next slide.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receipts June 2026 · 812 of 976 occupied units transacted in the window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02 ·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Autopay is stuck. 425 units are one click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Plug &amp; Pay share of 978 occupied units, January–June 2026 · June receipts by conversion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AUTOPAY ADOPTION — SIX FLAT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95467"/>
            <a:ext cx="670560" cy="1135284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601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27.4%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Jan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30096" y="2583037"/>
            <a:ext cx="670560" cy="1147714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8656" y="236358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8656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Feb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28672" y="2558176"/>
            <a:ext cx="670560" cy="1172575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7232" y="2338720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7232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Mar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27248" y="2545746"/>
            <a:ext cx="670560" cy="1185005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326290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Apr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25823" y="2549890"/>
            <a:ext cx="670560" cy="1180861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34384" y="2330434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4384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May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4399" y="2570607"/>
            <a:ext cx="670560" cy="1160145"/>
          </a:xfrm>
          <a:prstGeom prst="roundRect">
            <a:avLst>
              <a:gd name="adj" fmla="val 12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2960" y="2351151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22222"/>
                </a:solidFill>
                <a:latin typeface="Montserrat"/>
              </a:rPr>
              <a:t>28.0%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960" y="3776472"/>
            <a:ext cx="853440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B6B"/>
                </a:solidFill>
                <a:latin typeface="Arial"/>
              </a:rPr>
              <a:t>Jun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233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+0.6pp in six months.</a:t>
            </a:r>
            <a:r>
              <a:rPr sz="1000" b="0">
                <a:solidFill>
                  <a:srgbClr val="6B6B6B"/>
                </a:solidFill>
                <a:latin typeface="Arial"/>
              </a:rPr>
              <a:t> Organic growth will not shift the mix — it needs a push.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1645920"/>
            <a:ext cx="6382512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07607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3912" y="1805940"/>
            <a:ext cx="58338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THE CONVERSION LADDER — JUNE PAYERS BY DISTANCE FROM AUTOPAY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82296" cy="47548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2" y="21762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On autopay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43230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Plug &amp; Pay — the destination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2157984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E30613"/>
                </a:solidFill>
                <a:latin typeface="Montserrat"/>
              </a:rPr>
              <a:t>274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798064"/>
            <a:ext cx="82296" cy="475488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5352" y="277977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One click away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035808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343 bank-app / Pay Now + 82 manual card — already digital, just manual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2761488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222222"/>
                </a:solidFill>
                <a:latin typeface="Montserrat"/>
              </a:rPr>
              <a:t>425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3401568"/>
            <a:ext cx="82296" cy="475488"/>
          </a:xfrm>
          <a:prstGeom prst="rect">
            <a:avLst/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5352" y="338328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11111"/>
                </a:solidFill>
                <a:latin typeface="Montserrat"/>
              </a:rPr>
              <a:t>The hard 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639312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Arial"/>
              </a:rPr>
              <a:t>cash &amp; cheque — needs an ACH offer at renewal, not a nudge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364992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100" b="1">
                <a:solidFill>
                  <a:srgbClr val="6B6B6B"/>
                </a:solidFill>
                <a:latin typeface="Montserrat"/>
              </a:rPr>
              <a:t>113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4023359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</a:rPr>
              <a:t>Convert the one-click tier and autopay reaches </a:t>
            </a:r>
            <a:r>
              <a:rPr sz="1050" b="1">
                <a:solidFill>
                  <a:srgbClr val="E30613"/>
                </a:solidFill>
                <a:latin typeface="Arial"/>
              </a:rPr>
              <a:t>~72% of occupied units</a:t>
            </a:r>
            <a:r>
              <a:rPr sz="1050" b="0">
                <a:solidFill>
                  <a:srgbClr val="6B6B6B"/>
                </a:solidFill>
                <a:latin typeface="Arial"/>
              </a:rPr>
              <a:t>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590288"/>
            <a:ext cx="11185855" cy="1024128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636008"/>
            <a:ext cx="50292" cy="93268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" y="4773168"/>
            <a:ext cx="10710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The ask: run the switch campaign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" y="5120640"/>
            <a:ext cx="1071036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One targeted message to the 343 bank-app &amp; Pay Now payers (“make it recurring”), a tick-box prompt for the 82 manual card payers at their next payment, and an ACH offer to cash &amp; cheque at renewal. Every converted unit removes a monthly manual touch and cuts late-payment risk.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receipts Jan–Jun 2026 · autopay share of occupied units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ACQUISITION — HOW THEY FOUND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Word of mouth is the value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marketing category · 974 occupied tenants · lifetime value = cumulative rent per tenant, $12.5M total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85855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860804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05940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HOW THE CURRENT BASE FOUND STORE ALL — 974 TENANTS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57984"/>
            <a:ext cx="3565301" cy="384048"/>
          </a:xfrm>
          <a:prstGeom prst="roundRect">
            <a:avLst>
              <a:gd name="adj" fmla="val 18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4852"/>
            <a:ext cx="3565301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33%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425" y="2157984"/>
            <a:ext cx="2364661" cy="384048"/>
          </a:xfrm>
          <a:prstGeom prst="roundRect">
            <a:avLst>
              <a:gd name="adj" fmla="val 18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425" y="2244852"/>
            <a:ext cx="2364661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22%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2690" y="2157984"/>
            <a:ext cx="1736804" cy="384048"/>
          </a:xfrm>
          <a:prstGeom prst="roundRect">
            <a:avLst>
              <a:gd name="adj" fmla="val 18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2690" y="2244852"/>
            <a:ext cx="1736804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16%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75097" y="2157984"/>
            <a:ext cx="899660" cy="384048"/>
          </a:xfrm>
          <a:prstGeom prst="roundRect">
            <a:avLst>
              <a:gd name="adj" fmla="val 18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5097" y="2244852"/>
            <a:ext cx="899660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361" y="2157984"/>
            <a:ext cx="635299" cy="384048"/>
          </a:xfrm>
          <a:prstGeom prst="roundRect">
            <a:avLst>
              <a:gd name="adj" fmla="val 18000"/>
            </a:avLst>
          </a:prstGeom>
          <a:solidFill>
            <a:srgbClr val="B886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361" y="2244852"/>
            <a:ext cx="635299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6%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61264" y="2157984"/>
            <a:ext cx="40487" cy="384048"/>
          </a:xfrm>
          <a:prstGeom prst="roundRect">
            <a:avLst>
              <a:gd name="adj" fmla="val 18000"/>
            </a:avLst>
          </a:prstGeom>
          <a:solidFill>
            <a:srgbClr val="3B59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27354" y="2157984"/>
            <a:ext cx="1108946" cy="384048"/>
          </a:xfrm>
          <a:prstGeom prst="roundRect">
            <a:avLst>
              <a:gd name="adj" fmla="val 18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27354" y="2244852"/>
            <a:ext cx="1108946" cy="2103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22222"/>
                </a:solidFill>
                <a:latin typeface="Montserrat"/>
              </a:rPr>
              <a:t>11%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61904" y="2157984"/>
            <a:ext cx="172667" cy="384048"/>
          </a:xfrm>
          <a:prstGeom prst="roundRect">
            <a:avLst>
              <a:gd name="adj" fmla="val 18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Internet</a:t>
            </a:r>
            <a:r>
              <a:rPr sz="750" b="0">
                <a:solidFill>
                  <a:srgbClr val="6B6B6B"/>
                </a:solidFill>
                <a:latin typeface="Arial"/>
              </a:rPr>
              <a:t>  326 · 33%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01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5481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Referral</a:t>
            </a:r>
            <a:r>
              <a:rPr sz="750" b="0">
                <a:solidFill>
                  <a:srgbClr val="6B6B6B"/>
                </a:solidFill>
                <a:latin typeface="Arial"/>
              </a:rPr>
              <a:t>  217 · 22%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3683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6563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Prev tenant</a:t>
            </a:r>
            <a:r>
              <a:rPr sz="750" b="0">
                <a:solidFill>
                  <a:srgbClr val="6B6B6B"/>
                </a:solidFill>
                <a:latin typeface="Arial"/>
              </a:rPr>
              <a:t>  160 · 16%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765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645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Drive-by</a:t>
            </a:r>
            <a:r>
              <a:rPr sz="750" b="0">
                <a:solidFill>
                  <a:srgbClr val="6B6B6B"/>
                </a:solidFill>
                <a:latin typeface="Arial"/>
              </a:rPr>
              <a:t>  84 · 9%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5847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886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Y. Pages</a:t>
            </a:r>
            <a:r>
              <a:rPr sz="750" b="0">
                <a:solidFill>
                  <a:srgbClr val="6B6B6B"/>
                </a:solidFill>
                <a:latin typeface="Arial"/>
              </a:rPr>
              <a:t>  60 · 6%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6929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3B59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9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Facebook</a:t>
            </a:r>
            <a:r>
              <a:rPr sz="750" b="0">
                <a:solidFill>
                  <a:srgbClr val="6B6B6B"/>
                </a:solidFill>
                <a:latin typeface="Arial"/>
              </a:rPr>
              <a:t>  6 · 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011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B5B5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0891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Other</a:t>
            </a:r>
            <a:r>
              <a:rPr sz="750" b="0">
                <a:solidFill>
                  <a:srgbClr val="6B6B6B"/>
                </a:solidFill>
                <a:latin typeface="Arial"/>
              </a:rPr>
              <a:t>  103 · 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19093" y="2683764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1973" y="2638044"/>
            <a:ext cx="112162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11111"/>
                </a:solidFill>
                <a:latin typeface="Arial"/>
              </a:rPr>
              <a:t>Unknown</a:t>
            </a:r>
            <a:r>
              <a:rPr sz="750" b="0">
                <a:solidFill>
                  <a:srgbClr val="6B6B6B"/>
                </a:solidFill>
                <a:latin typeface="Arial"/>
              </a:rPr>
              <a:t>  18 · 2%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328416"/>
            <a:ext cx="672084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4088" y="35433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3488436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LIFETIME VALUE PER TENANT, BY SOURCE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80847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Referral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267712" y="3840480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267712" y="3840480"/>
            <a:ext cx="3640467" cy="137160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79" y="3808476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$14,637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15594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Previous tenant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67712" y="4187952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267712" y="4187952"/>
            <a:ext cx="3105229" cy="137160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79" y="4155948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$12,485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50342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Drive-by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67712" y="4535424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267712" y="4535424"/>
            <a:ext cx="2979378" cy="137160"/>
          </a:xfrm>
          <a:prstGeom prst="roundRect">
            <a:avLst>
              <a:gd name="adj" fmla="val 50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79" y="4503420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$11,979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48508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Internet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67712" y="4882896"/>
            <a:ext cx="373075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67712" y="4882896"/>
            <a:ext cx="2396883" cy="1371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4850892"/>
            <a:ext cx="868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$9,637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248655"/>
            <a:ext cx="6263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Arial"/>
              </a:rPr>
              <a:t>Yellow Pages tops the table at ~$21k/tenant but is a shrinking legacy book of 60 long-tenured commercial accounts. Internet brings the most tenants — at the lowest value per head.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06640" y="3328416"/>
            <a:ext cx="4282135" cy="237744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06640" y="3374136"/>
            <a:ext cx="50292" cy="2286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44383" y="3511296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Referrals punch above their weight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44383" y="3858768"/>
            <a:ext cx="3806647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Referral + previous tenant are </a:t>
            </a:r>
            <a:r>
              <a:rPr sz="1100" b="1">
                <a:solidFill>
                  <a:srgbClr val="FFFFFF"/>
                </a:solidFill>
                <a:latin typeface="Arial"/>
              </a:rPr>
              <a:t>39% of tenants but 41% of all lifetime value — $5.2M</a:t>
            </a:r>
            <a:r>
              <a:rPr sz="1100" b="0">
                <a:solidFill>
                  <a:srgbClr val="E0E0E0"/>
                </a:solidFill>
                <a:latin typeface="Arial"/>
              </a:rPr>
              <a:t>. A referred tenant is worth </a:t>
            </a:r>
            <a:r>
              <a:rPr sz="1100" b="1">
                <a:solidFill>
                  <a:srgbClr val="FFFFFF"/>
                </a:solidFill>
                <a:latin typeface="Arial"/>
              </a:rPr>
              <a:t>$14.6k</a:t>
            </a:r>
            <a:r>
              <a:rPr sz="1100" b="0">
                <a:solidFill>
                  <a:srgbClr val="E0E0E0"/>
                </a:solidFill>
                <a:latin typeface="Arial"/>
              </a:rPr>
              <a:t>, 52% more than an internet-sourced one.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And we currently pay nothing for it. </a:t>
            </a:r>
            <a:r>
              <a:rPr sz="1100" b="1">
                <a:solidFill>
                  <a:srgbClr val="FFD9D9"/>
                </a:solidFill>
                <a:latin typeface="Arial"/>
              </a:rPr>
              <a:t>The ask:</a:t>
            </a:r>
            <a:r>
              <a:rPr sz="1100" b="0">
                <a:solidFill>
                  <a:srgbClr val="E0E0E0"/>
                </a:solidFill>
                <a:latin typeface="Arial"/>
              </a:rPr>
              <a:t> formalise it — a referral credit for existing tenants and a win-back offer at move-out.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marketing summary (sMktCat) · occupied base + cumulative rent value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03 · ACQUISITION — HOW THEY REACHED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They find us online — then they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SiteLink enquiry channel · 979 occupied units · contact channel, distinct from the marketing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CONTACTED US BY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61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602 of 979 tenants — the phone is the front door at every 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FOUND US ON THE INTERNET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34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332 tenants incl. Facebook — discovery is already digital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EVER BOOKED VIA THE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1.7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17 tenants in the entire base — most predate 2020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WEB BOOKINGS, LAST 12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1</a:t>
            </a:r>
            <a:r>
              <a:rPr sz="1400" b="0">
                <a:solidFill>
                  <a:srgbClr val="6B6B6B"/>
                </a:solidFill>
                <a:latin typeface="Montserrat"/>
              </a:rPr>
              <a:t> of 270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one web move-in out of 270 recent — the funnel is broken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67208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6172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CONTACT CHANNEL MIX — 979 OCCUPIED 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450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Phone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76272" y="38770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76272" y="3877056"/>
            <a:ext cx="3486114" cy="1371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19" y="38450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602 · 61%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879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Not recorded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2199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176272" y="4219956"/>
            <a:ext cx="955496" cy="137160"/>
          </a:xfrm>
          <a:prstGeom prst="roundRect">
            <a:avLst>
              <a:gd name="adj" fmla="val 50000"/>
            </a:avLst>
          </a:prstGeom>
          <a:solidFill>
            <a:srgbClr val="D5D5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9319" y="41879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165 ·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308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Walk-in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76272" y="45628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176272" y="4562856"/>
            <a:ext cx="857051" cy="137160"/>
          </a:xfrm>
          <a:prstGeom prst="roundRect">
            <a:avLst>
              <a:gd name="adj" fmla="val 50000"/>
            </a:avLst>
          </a:prstGeom>
          <a:solidFill>
            <a:srgbClr val="7A7A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19" y="45308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148 · 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737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Email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49057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176272" y="4905756"/>
            <a:ext cx="272171" cy="137160"/>
          </a:xfrm>
          <a:prstGeom prst="roundRect">
            <a:avLst>
              <a:gd name="adj" fmla="val 50000"/>
            </a:avLst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19" y="48737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47 · 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21665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Arial"/>
              </a:rPr>
              <a:t>Web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76272" y="5248656"/>
            <a:ext cx="3685032" cy="1371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76272" y="5248656"/>
            <a:ext cx="98445" cy="137160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19" y="5216652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17 · 2%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06640" y="3310128"/>
            <a:ext cx="428213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0664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44383" y="3493008"/>
            <a:ext cx="380664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A brochure, not a funnel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44383" y="3840480"/>
            <a:ext cx="380664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A third of tenants </a:t>
            </a:r>
            <a:r>
              <a:rPr sz="1100" b="0" i="1">
                <a:solidFill>
                  <a:srgbClr val="E0E0E0"/>
                </a:solidFill>
                <a:latin typeface="Arial"/>
              </a:rPr>
              <a:t>discover</a:t>
            </a:r>
            <a:r>
              <a:rPr sz="1100" b="0">
                <a:solidFill>
                  <a:srgbClr val="E0E0E0"/>
                </a:solidFill>
                <a:latin typeface="Arial"/>
              </a:rPr>
              <a:t> us online — then pick up the phone to book. Discovery is digital; booking is analog. That gap is the website.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FD9D9"/>
                </a:solidFill>
                <a:latin typeface="Arial"/>
              </a:rPr>
              <a:t>The ask:</a:t>
            </a:r>
            <a:r>
              <a:rPr sz="1100" b="0">
                <a:solidFill>
                  <a:srgbClr val="E0E0E0"/>
                </a:solidFill>
                <a:latin typeface="Arial"/>
              </a:rPr>
              <a:t> rebuild it as a booking channel — live availability, prices, “Reserve now” — and own local search (Google Business Profile, click-to-call). Its Pay Now already collects $41k/mo; the front of the site should work as hard as the back.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InquirySource · occupied base; recent = move-ins in the last 12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1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20">
                <a:solidFill>
                  <a:srgbClr val="E30613"/>
                </a:solidFill>
                <a:latin typeface="Montserrat"/>
              </a:rPr>
              <a:t>ACT 04 · CUSTOMER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57607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111"/>
                </a:solidFill>
                <a:latin typeface="Montserrat"/>
              </a:rPr>
              <a:t>Here for location — never for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11155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Local households in transition · SiteLink marketing summary · 978 active tenants, all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"/>
          </a:xfrm>
          <a:prstGeom prst="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CHOSE US FOR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30613"/>
                </a:solidFill>
                <a:latin typeface="Montserrat"/>
              </a:rPr>
              <a:t>67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657 tenants — versus 2 (0.2%) for price. Convenience, not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5103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551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RESIDENTIAL 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551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76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551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747 households vs 231 commercial accounts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STORE FURNITURE / HOUSEHOLD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64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629 tenants — life-event storage dominates the mix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471" y="1645920"/>
            <a:ext cx="2659303" cy="14813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4919" y="1773936"/>
            <a:ext cx="23484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6B6B6B"/>
                </a:solidFill>
                <a:latin typeface="Montserrat"/>
              </a:rPr>
              <a:t>LIVE WITHIN ~5 MILES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4919" y="2011680"/>
            <a:ext cx="23484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11111"/>
                </a:solidFill>
                <a:latin typeface="Montserrat"/>
              </a:rPr>
              <a:t>43</a:t>
            </a:r>
            <a:r>
              <a:rPr sz="1400" b="0">
                <a:solidFill>
                  <a:srgbClr val="6B6B6B"/>
                </a:solidFill>
                <a:latin typeface="Montserrat"/>
              </a:rPr>
              <a:t>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4919" y="2532888"/>
            <a:ext cx="23484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B6B6B"/>
                </a:solidFill>
                <a:latin typeface="Arial"/>
              </a:rPr>
              <a:t>and 13% overseas — the diaspora, concentrated at Central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10128"/>
            <a:ext cx="54406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470148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WHY THEY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26763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Excess / declutter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21992" y="38587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21992" y="38587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382676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338 · 35%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69663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Moving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21992" y="42016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21992" y="4201668"/>
            <a:ext cx="1805317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16966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249 · 26%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5125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Business needs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21992" y="45445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21992" y="4544568"/>
            <a:ext cx="1674812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5125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231 · 24%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554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Renovating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21992" y="48874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221992" y="4887468"/>
            <a:ext cx="384264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48554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53 · 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198364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Other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221992" y="5230368"/>
            <a:ext cx="2450592" cy="12801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21992" y="5230368"/>
            <a:ext cx="638023" cy="128016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51983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88 · 9%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3310128"/>
            <a:ext cx="2834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7648" y="35250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2" y="3470148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90">
                <a:solidFill>
                  <a:srgbClr val="222222"/>
                </a:solidFill>
                <a:latin typeface="Montserrat"/>
              </a:rPr>
              <a:t>WHY THEY CHOSE 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6792" y="3826763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Location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70063" y="38587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370063" y="38587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382676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69%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792" y="4169663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Features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70063" y="42016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370063" y="4201668"/>
            <a:ext cx="246637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03336" y="416966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19%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6792" y="45125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Management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70063" y="45445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370063" y="4544568"/>
            <a:ext cx="106095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03336" y="45125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36792" y="48554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Other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70063" y="48874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370063" y="4887468"/>
            <a:ext cx="60625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03336" y="48554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6792" y="5198364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11111"/>
                </a:solidFill>
                <a:latin typeface="Arial"/>
              </a:rPr>
              <a:t>Price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370063" y="5230368"/>
            <a:ext cx="905256" cy="1188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70063" y="5230368"/>
            <a:ext cx="50292" cy="118872"/>
          </a:xfrm>
          <a:prstGeom prst="roundRect">
            <a:avLst>
              <a:gd name="adj" fmla="val 50000"/>
            </a:avLst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03336" y="5198364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>
                <a:solidFill>
                  <a:srgbClr val="222222"/>
                </a:solidFill>
                <a:latin typeface="Arial"/>
              </a:rPr>
              <a:t>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144000" y="3310128"/>
            <a:ext cx="2544775" cy="2331720"/>
          </a:xfrm>
          <a:prstGeom prst="roundRect">
            <a:avLst>
              <a:gd name="adj" fmla="val 4500"/>
            </a:avLst>
          </a:prstGeom>
          <a:solidFill>
            <a:srgbClr val="2222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0" y="3355848"/>
            <a:ext cx="50292" cy="2240279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81744" y="3493008"/>
            <a:ext cx="20692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D9"/>
                </a:solidFill>
                <a:latin typeface="Montserrat"/>
              </a:rPr>
              <a:t>Back to Act 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81744" y="3840480"/>
            <a:ext cx="2069287" cy="1655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Demand is local, residential and location-led — people store because life changed, near where they live.</a:t>
            </a:r>
          </a:p>
          <a:p>
            <a:pPr algn="l">
              <a:lnSpc>
                <a:spcPct val="118000"/>
              </a:lnSpc>
            </a:pPr>
            <a:r>
              <a:rPr sz="1100" b="0">
                <a:solidFill>
                  <a:srgbClr val="E0E0E0"/>
                </a:solidFill>
                <a:latin typeface="Arial"/>
              </a:rPr>
              <a:t>So the growth lever is </a:t>
            </a:r>
            <a:r>
              <a:rPr sz="1100" b="1">
                <a:solidFill>
                  <a:srgbClr val="FFFFFF"/>
                </a:solidFill>
                <a:latin typeface="Arial"/>
              </a:rPr>
              <a:t>proximity and visibility</a:t>
            </a:r>
            <a:r>
              <a:rPr sz="1100" b="0">
                <a:solidFill>
                  <a:srgbClr val="E0E0E0"/>
                </a:solidFill>
                <a:latin typeface="Arial"/>
              </a:rPr>
              <a:t>, not discounting — and it is exactly why </a:t>
            </a:r>
            <a:r>
              <a:rPr sz="1100" b="1">
                <a:solidFill>
                  <a:srgbClr val="FFFFFF"/>
                </a:solidFill>
                <a:latin typeface="Arial"/>
              </a:rPr>
              <a:t>new supply in the right catchment</a:t>
            </a:r>
            <a:r>
              <a:rPr sz="1100" b="0">
                <a:solidFill>
                  <a:srgbClr val="E0E0E0"/>
                </a:solidFill>
                <a:latin typeface="Arial"/>
              </a:rPr>
              <a:t> will fill.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6B6B6B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6B6B6B"/>
                </a:solidFill>
                <a:latin typeface="Arial"/>
              </a:rPr>
              <a:t>   ·   SiteLink marketing summary · shares of tenants with the field recorded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6B6B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17136" cy="64008"/>
          </a:xfrm>
          <a:prstGeom prst="rect">
            <a:avLst/>
          </a:prstGeom>
          <a:solidFill>
            <a:srgbClr val="B000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F6A3A3"/>
                </a:solidFill>
                <a:latin typeface="Montserrat"/>
              </a:rPr>
              <a:t>THE STORY,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ontserrat"/>
              </a:rPr>
              <a:t>What the data asks of 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36192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" y="181051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62763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Secure new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9344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Sold out at 99.4% with 361 inquiries chasing 6 units. Volume growth is gone until we add space — expand Lears or commit to site #4.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185623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185623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7004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24912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299923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281635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Convert the one-click 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98064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Autopay is stuck at 28% (+0.6pp in 6 months). 425 units already pay digitally but manually — run the recurring-billing switch campaign.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304495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304495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THIS QUARTER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13631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376" y="418795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400507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Pay for word of mouth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986783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Referrals + returning tenants: 39% of tenants, 41% of $12.5M lifetime value, $14.6k per referred tenant. Launch referral credits &amp; move-out win-back.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40" y="423367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423367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REFERRAL CREDIT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47488"/>
            <a:ext cx="11185855" cy="1060704"/>
          </a:xfrm>
          <a:prstGeom prst="roundRect">
            <a:avLst>
              <a:gd name="adj" fmla="val 6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102351"/>
            <a:ext cx="50292" cy="9509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2376" y="5376672"/>
            <a:ext cx="384048" cy="384048"/>
          </a:xfrm>
          <a:prstGeom prst="ellipse">
            <a:avLst/>
          </a:prstGeom>
          <a:solidFill>
            <a:srgbClr val="1F1F1F"/>
          </a:solidFill>
          <a:ln w="19050">
            <a:solidFill>
              <a:srgbClr val="E30613"/>
            </a:solidFill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30613"/>
                </a:solidFill>
                <a:latin typeface="Montserra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7592" y="519379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FFFFF"/>
                </a:solidFill>
                <a:latin typeface="Montserrat"/>
              </a:rPr>
              <a:t>Rebuild the website to 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175503"/>
            <a:ext cx="5394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>
                <a:solidFill>
                  <a:srgbClr val="C8C8C8"/>
                </a:solidFill>
                <a:latin typeface="Arial"/>
              </a:rPr>
              <a:t>One web booking in 12 months while a third of tenants discover us online. Live availability, pricing, Reserve Now, local search.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5422392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A1214"/>
          </a:solidFill>
          <a:ln w="9525">
            <a:solidFill>
              <a:srgbClr val="B0001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5422392"/>
            <a:ext cx="1719072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750" b="1" spc="40">
                <a:solidFill>
                  <a:srgbClr val="F6A3A3"/>
                </a:solidFill>
                <a:latin typeface="Montserrat"/>
              </a:rPr>
              <a:t>BOOKING FUNNEL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9692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A8A8A"/>
                </a:solidFill>
                <a:latin typeface="Arial"/>
              </a:rPr>
              <a:t>Store All Barbados — Data Story · July 2026</a:t>
            </a:r>
            <a:r>
              <a:rPr sz="850" b="0">
                <a:solidFill>
                  <a:srgbClr val="8A8A8A"/>
                </a:solidFill>
                <a:latin typeface="Arial"/>
              </a:rPr>
              <a:t>   ·   Full detail in the Data Dashboard — occupancy, payments, acquisition, lead funnel &amp; profile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8A8A8A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